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0B1B2B"/>
              </a:solidFill>
              <a:effectLst/>
            </c:spPr>
          </c:dPt>
          <c:dPt>
            <c:idx val="1"/>
            <c:bubble3D val="0"/>
            <c:spPr>
              <a:solidFill>
                <a:srgbClr val="C6A15B"/>
              </a:solidFill>
              <a:effectLst/>
            </c:spPr>
          </c:dPt>
          <c:dPt>
            <c:idx val="2"/>
            <c:bubble3D val="0"/>
            <c:spPr>
              <a:solidFill>
                <a:srgbClr val="8C2F39"/>
              </a:solidFill>
              <a:effectLst/>
            </c:spPr>
          </c:dPt>
          <c:dPt>
            <c:idx val="3"/>
            <c:bubble3D val="0"/>
            <c:spPr>
              <a:solidFill>
                <a:srgbClr val="5C7A73"/>
              </a:solidFill>
              <a:effectLst/>
            </c:spPr>
          </c:dPt>
          <c:dPt>
            <c:idx val="4"/>
            <c:bubble3D val="0"/>
            <c:spPr>
              <a:solidFill>
                <a:srgbClr val="8C93A0"/>
              </a:solidFill>
              <a:effectLst/>
            </c:spPr>
          </c:dPt>
          <c:dLbls>
            <c:dLbl>
              <c:idx val="0"/>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3"/>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4"/>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Capital Growth</c:v>
                </c:pt>
                <c:pt idx="1">
                  <c:v>Stable Yield &amp; Growth</c:v>
                </c:pt>
                <c:pt idx="2">
                  <c:v>Opportunistic / Private Markets</c:v>
                </c:pt>
                <c:pt idx="3">
                  <c:v>Philanthropy</c:v>
                </c:pt>
                <c:pt idx="4">
                  <c:v>Liquidity Reserve</c:v>
                </c:pt>
              </c:strCache>
            </c:strRef>
          </c:cat>
          <c:val>
            <c:numRef>
              <c:f>Sheet1!$B$2:$B$6</c:f>
              <c:numCache>
                <c:ptCount val="5"/>
                <c:pt idx="0">
                  <c:v>30</c:v>
                </c:pt>
                <c:pt idx="1">
                  <c:v>35</c:v>
                </c:pt>
                <c:pt idx="2">
                  <c:v>20</c:v>
                </c:pt>
                <c:pt idx="3">
                  <c:v>10</c:v>
                </c:pt>
                <c:pt idx="4">
                  <c:v>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1B2B"/>
                </a:solidFill>
                <a:latin typeface="Calibri"/>
              </a:defRPr>
            </a:pPr>
            <a:r>
              <a:rPr sz="1100" b="0" i="0" u="none" strike="noStrike">
                <a:solidFill>
                  <a:srgbClr val="0B1B2B"/>
                </a:solidFill>
                <a:latin typeface="Calibri"/>
              </a:rPr>
              <a:t>Return Composition</a:t>
            </a:r>
          </a:p>
        </c:rich>
      </c:tx>
      <c:layout/>
      <c:overlay val="0"/>
    </c:title>
    <c:autoTitleDeleted val="0"/>
    <c:plotArea>
      <c:layout/>
      <c:barChart>
        <c:barDir val="col"/>
        <c:grouping val="stacked"/>
        <c:varyColors val="0"/>
        <c:ser>
          <c:idx val="0"/>
          <c:order val="0"/>
          <c:tx>
            <c:strRef>
              <c:f>Sheet1!$B$1</c:f>
              <c:strCache>
                <c:ptCount val="1"/>
                <c:pt idx="0">
                  <c:v>Income</c:v>
                </c:pt>
              </c:strCache>
            </c:strRef>
          </c:tx>
          <c:spPr>
            <a:solidFill>
              <a:srgbClr val="C6A15B"/>
            </a:solidFill>
            <a:effectLst/>
          </c:spPr>
          <c:invertIfNegative val="0"/>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Return Build</c:v>
                  </c:pt>
                </c:lvl>
              </c:multiLvlStrCache>
            </c:multiLvlStrRef>
          </c:cat>
          <c:val>
            <c:numRef>
              <c:f>Sheet1!$B$2:$B$2</c:f>
              <c:numCache>
                <c:formatCode>General</c:formatCode>
                <c:ptCount val="1"/>
                <c:pt idx="0">
                  <c:v>4</c:v>
                </c:pt>
              </c:numCache>
            </c:numRef>
          </c:val>
        </c:ser>
        <c:ser>
          <c:idx val="1"/>
          <c:order val="1"/>
          <c:tx>
            <c:strRef>
              <c:f>Sheet1!$C$1</c:f>
              <c:strCache>
                <c:ptCount val="1"/>
                <c:pt idx="0">
                  <c:v>Growth</c:v>
                </c:pt>
              </c:strCache>
            </c:strRef>
          </c:tx>
          <c:spPr>
            <a:solidFill>
              <a:srgbClr val="0B1B2B"/>
            </a:solidFill>
            <a:effectLst/>
          </c:spPr>
          <c:invertIfNegative val="0"/>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Return Build</c:v>
                  </c:pt>
                </c:lvl>
              </c:multiLvlStrCache>
            </c:multiLvlStrRef>
          </c:cat>
          <c:val>
            <c:numRef>
              <c:f>Sheet1!$C$2:$C$2</c:f>
              <c:numCache>
                <c:formatCode>General</c:formatCode>
                <c:ptCount val="1"/>
                <c:pt idx="0">
                  <c:v>3.5</c:v>
                </c:pt>
              </c:numCache>
            </c:numRef>
          </c:val>
        </c:ser>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B2B"/>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B1B2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0B1B2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Global Equities</c:v>
                </c:pt>
              </c:strCache>
            </c:strRef>
          </c:tx>
          <c:spPr>
            <a:solidFill>
              <a:srgbClr val="0B1B2B"/>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Sheet1!$B$2:$B$2</c:f>
              <c:numCache>
                <c:formatCode>General</c:formatCode>
                <c:ptCount val="1"/>
                <c:pt idx="0">
                  <c:v>40</c:v>
                </c:pt>
              </c:numCache>
            </c:numRef>
          </c:val>
        </c:ser>
        <c:ser>
          <c:idx val="1"/>
          <c:order val="1"/>
          <c:tx>
            <c:strRef>
              <c:f>Sheet1!$C$1</c:f>
              <c:strCache>
                <c:ptCount val="1"/>
                <c:pt idx="0">
                  <c:v>Fixed Income &amp; Credit</c:v>
                </c:pt>
              </c:strCache>
            </c:strRef>
          </c:tx>
          <c:spPr>
            <a:solidFill>
              <a:srgbClr val="C6A15B"/>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Sheet1!$C$2:$C$2</c:f>
              <c:numCache>
                <c:formatCode>General</c:formatCode>
                <c:ptCount val="1"/>
                <c:pt idx="0">
                  <c:v>35</c:v>
                </c:pt>
              </c:numCache>
            </c:numRef>
          </c:val>
        </c:ser>
        <c:ser>
          <c:idx val="2"/>
          <c:order val="2"/>
          <c:tx>
            <c:strRef>
              <c:f>Sheet1!$D$1</c:f>
              <c:strCache>
                <c:ptCount val="1"/>
                <c:pt idx="0">
                  <c:v>Real Assets</c:v>
                </c:pt>
              </c:strCache>
            </c:strRef>
          </c:tx>
          <c:spPr>
            <a:solidFill>
              <a:srgbClr val="8C2F39"/>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Sheet1!$D$2:$D$2</c:f>
              <c:numCache>
                <c:formatCode>General</c:formatCode>
                <c:ptCount val="1"/>
                <c:pt idx="0">
                  <c:v>10</c:v>
                </c:pt>
              </c:numCache>
            </c:numRef>
          </c:val>
        </c:ser>
        <c:ser>
          <c:idx val="3"/>
          <c:order val="3"/>
          <c:tx>
            <c:strRef>
              <c:f>Sheet1!$E$1</c:f>
              <c:strCache>
                <c:ptCount val="1"/>
                <c:pt idx="0">
                  <c:v>Alternatives</c:v>
                </c:pt>
              </c:strCache>
            </c:strRef>
          </c:tx>
          <c:spPr>
            <a:solidFill>
              <a:srgbClr val="5C7A73"/>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Sheet1!$E$2:$E$2</c:f>
              <c:numCache>
                <c:formatCode>General</c:formatCode>
                <c:ptCount val="1"/>
                <c:pt idx="0">
                  <c:v>10</c:v>
                </c:pt>
              </c:numCache>
            </c:numRef>
          </c:val>
        </c:ser>
        <c:ser>
          <c:idx val="4"/>
          <c:order val="4"/>
          <c:tx>
            <c:strRef>
              <c:f>Sheet1!$F$1</c:f>
              <c:strCache>
                <c:ptCount val="1"/>
                <c:pt idx="0">
                  <c:v>Cash</c:v>
                </c:pt>
              </c:strCache>
            </c:strRef>
          </c:tx>
          <c:spPr>
            <a:solidFill>
              <a:srgbClr val="8C93A0"/>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Sheet1!$F$2:$F$2</c:f>
              <c:numCache>
                <c:formatCode>General</c:formatCode>
                <c:ptCount val="1"/>
                <c:pt idx="0">
                  <c:v>5</c:v>
                </c:pt>
              </c:numCache>
            </c:numRef>
          </c:val>
        </c:ser>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88888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0B1B2B"/>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Deployment</c:v>
                </c:pt>
              </c:strCache>
            </c:strRef>
          </c:tx>
          <c:spPr>
            <a:solidFill>
              <a:schemeClr val="accent1"/>
            </a:solidFill>
            <a:ln w="9525" cap="flat">
              <a:solidFill>
                <a:srgbClr val="F9F9F9"/>
              </a:solidFill>
              <a:prstDash val="solid"/>
              <a:round/>
            </a:ln>
            <a:effectLst/>
          </c:spPr>
          <c:dPt>
            <c:idx val="0"/>
            <c:bubble3D val="0"/>
            <c:spPr>
              <a:solidFill>
                <a:srgbClr val="0B1B2B"/>
              </a:solidFill>
              <a:effectLst/>
            </c:spPr>
          </c:dPt>
          <c:dPt>
            <c:idx val="1"/>
            <c:bubble3D val="0"/>
            <c:spPr>
              <a:solidFill>
                <a:srgbClr val="C6A15B"/>
              </a:solidFill>
              <a:effectLst/>
            </c:spPr>
          </c:dPt>
          <c:dPt>
            <c:idx val="2"/>
            <c:bubble3D val="0"/>
            <c:spPr>
              <a:solidFill>
                <a:srgbClr val="8C93A0"/>
              </a:solidFill>
              <a:effectLst/>
            </c:spPr>
          </c:dPt>
          <c:dLbls>
            <c:dLbl>
              <c:idx val="0"/>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AI-Medicine Research Grants</c:v>
                </c:pt>
                <c:pt idx="1">
                  <c:v>Venture Philanthropy / Co-Funding</c:v>
                </c:pt>
                <c:pt idx="2">
                  <c:v>Operating &amp; Governance</c:v>
                </c:pt>
              </c:strCache>
            </c:strRef>
          </c:cat>
          <c:val>
            <c:numRef>
              <c:f>Sheet1!$B$2:$B$4</c:f>
              <c:numCache>
                <c:ptCount val="3"/>
                <c:pt idx="0">
                  <c:v>70</c:v>
                </c:pt>
                <c:pt idx="1">
                  <c:v>20</c:v>
                </c:pt>
                <c:pt idx="2">
                  <c:v>10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20"/>
        </a:solidFill>
      </p:bgPr>
    </p:bg>
    <p:spTree>
      <p:nvGrpSpPr>
        <p:cNvPr id="1" name=""/>
        <p:cNvGrpSpPr/>
        <p:nvPr/>
      </p:nvGrpSpPr>
      <p:grpSpPr>
        <a:xfrm>
          <a:off x="0" y="0"/>
          <a:ext cx="0" cy="0"/>
          <a:chOff x="0" y="0"/>
          <a:chExt cx="0" cy="0"/>
        </a:xfrm>
      </p:grpSpPr>
      <p:sp>
        <p:nvSpPr>
          <p:cNvPr id="2" name="Shape 0"/>
          <p:cNvSpPr/>
          <p:nvPr/>
        </p:nvSpPr>
        <p:spPr>
          <a:xfrm>
            <a:off x="8778240" y="-1920240"/>
            <a:ext cx="5669280" cy="5669280"/>
          </a:xfrm>
          <a:prstGeom prst="ellipse">
            <a:avLst/>
          </a:prstGeom>
          <a:ln w="12700">
            <a:solidFill>
              <a:srgbClr val="C6A15B">
                <a:alpha val="45000"/>
              </a:srgbClr>
            </a:solidFill>
            <a:prstDash val="solid"/>
          </a:ln>
        </p:spPr>
      </p:sp>
      <p:sp>
        <p:nvSpPr>
          <p:cNvPr id="3" name="Shape 1"/>
          <p:cNvSpPr/>
          <p:nvPr/>
        </p:nvSpPr>
        <p:spPr>
          <a:xfrm>
            <a:off x="-2194560" y="4206240"/>
            <a:ext cx="4023360" cy="4023360"/>
          </a:xfrm>
          <a:prstGeom prst="ellipse">
            <a:avLst/>
          </a:prstGeom>
          <a:ln w="12700">
            <a:solidFill>
              <a:srgbClr val="C6A15B">
                <a:alpha val="30000"/>
              </a:srgbClr>
            </a:solidFill>
            <a:prstDash val="solid"/>
          </a:ln>
        </p:spPr>
      </p:sp>
      <p:sp>
        <p:nvSpPr>
          <p:cNvPr id="4" name="Text 2"/>
          <p:cNvSpPr txBox="1"/>
          <p:nvPr/>
        </p:nvSpPr>
        <p:spPr>
          <a:xfrm>
            <a:off x="822960" y="105156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PRIVATE WEALTH ADVISORY · SYDNEY</a:t>
            </a:r>
            <a:endParaRPr lang="en-US" sz="1100" dirty="0"/>
          </a:p>
        </p:txBody>
      </p:sp>
      <p:sp>
        <p:nvSpPr>
          <p:cNvPr id="5" name="Text 3"/>
          <p:cNvSpPr txBox="1"/>
          <p:nvPr/>
        </p:nvSpPr>
        <p:spPr>
          <a:xfrm>
            <a:off x="777240" y="2331720"/>
            <a:ext cx="10241280" cy="1828800"/>
          </a:xfrm>
          <a:prstGeom prst="rect">
            <a:avLst/>
          </a:prstGeom>
          <a:noFill/>
          <a:ln/>
        </p:spPr>
        <p:txBody>
          <a:bodyPr wrap="square"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Family Office</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Investment Strategy</a:t>
            </a:r>
            <a:endParaRPr lang="en-US" sz="4400" dirty="0"/>
          </a:p>
        </p:txBody>
      </p:sp>
      <p:sp>
        <p:nvSpPr>
          <p:cNvPr id="6" name="Text 4"/>
          <p:cNvSpPr txBox="1"/>
          <p:nvPr/>
        </p:nvSpPr>
        <p:spPr>
          <a:xfrm>
            <a:off x="822960" y="4160520"/>
            <a:ext cx="8686800" cy="457200"/>
          </a:xfrm>
          <a:prstGeom prst="rect">
            <a:avLst/>
          </a:prstGeom>
          <a:noFill/>
          <a:ln/>
        </p:spPr>
        <p:txBody>
          <a:bodyPr wrap="square" rtlCol="0" anchor="ctr"/>
          <a:lstStyle/>
          <a:p>
            <a:pPr indent="0" marL="0">
              <a:buNone/>
            </a:pPr>
            <a:r>
              <a:rPr lang="en-US" sz="1700" i="1" dirty="0">
                <a:solidFill>
                  <a:srgbClr val="F6F3EC"/>
                </a:solidFill>
                <a:latin typeface="Calibri" pitchFamily="34" charset="0"/>
                <a:ea typeface="Calibri" pitchFamily="34" charset="-122"/>
                <a:cs typeface="Calibri" pitchFamily="34" charset="-120"/>
              </a:rPr>
              <a:t>A Five-Pool Framework for Multi-Generational Capital</a:t>
            </a:r>
            <a:endParaRPr lang="en-US" sz="1700" dirty="0"/>
          </a:p>
        </p:txBody>
      </p:sp>
      <p:sp>
        <p:nvSpPr>
          <p:cNvPr id="7" name="Text 5"/>
          <p:cNvSpPr txBox="1"/>
          <p:nvPr/>
        </p:nvSpPr>
        <p:spPr>
          <a:xfrm>
            <a:off x="822960" y="6172200"/>
            <a:ext cx="3657600" cy="274320"/>
          </a:xfrm>
          <a:prstGeom prst="rect">
            <a:avLst/>
          </a:prstGeom>
          <a:noFill/>
          <a:ln/>
        </p:spPr>
        <p:txBody>
          <a:bodyPr wrap="square" rtlCol="0" anchor="ctr"/>
          <a:lstStyle/>
          <a:p>
            <a:pPr indent="0" marL="0">
              <a:buNone/>
            </a:pPr>
            <a:r>
              <a:rPr lang="en-US" sz="1050" dirty="0">
                <a:solidFill>
                  <a:srgbClr val="8C93A0"/>
                </a:solidFill>
                <a:latin typeface="Calibri" pitchFamily="34" charset="0"/>
                <a:ea typeface="Calibri" pitchFamily="34" charset="-122"/>
                <a:cs typeface="Calibri" pitchFamily="34" charset="-120"/>
              </a:rPr>
              <a:t>Prepared August 2026</a:t>
            </a:r>
            <a:endParaRPr lang="en-US" sz="1050" dirty="0"/>
          </a:p>
        </p:txBody>
      </p:sp>
      <p:sp>
        <p:nvSpPr>
          <p:cNvPr id="8" name="Text 6"/>
          <p:cNvSpPr txBox="1"/>
          <p:nvPr/>
        </p:nvSpPr>
        <p:spPr>
          <a:xfrm>
            <a:off x="7680960" y="6172200"/>
            <a:ext cx="4023360" cy="274320"/>
          </a:xfrm>
          <a:prstGeom prst="rect">
            <a:avLst/>
          </a:prstGeom>
          <a:noFill/>
          <a:ln/>
        </p:spPr>
        <p:txBody>
          <a:bodyPr wrap="square" rtlCol="0" anchor="ctr"/>
          <a:lstStyle/>
          <a:p>
            <a:pPr algn="r" indent="0" marL="0">
              <a:buNone/>
            </a:pPr>
            <a:r>
              <a:rPr lang="en-US" sz="1050" i="1" dirty="0">
                <a:solidFill>
                  <a:srgbClr val="8C93A0"/>
                </a:solidFill>
                <a:latin typeface="Calibri" pitchFamily="34" charset="0"/>
                <a:ea typeface="Calibri" pitchFamily="34" charset="-122"/>
                <a:cs typeface="Calibri" pitchFamily="34" charset="-120"/>
              </a:rPr>
              <a:t>Strictly Private &amp;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C"/>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PHILOSOPHY</a:t>
            </a:r>
            <a:endParaRPr lang="en-US" sz="1100" dirty="0"/>
          </a:p>
        </p:txBody>
      </p:sp>
      <p:sp>
        <p:nvSpPr>
          <p:cNvPr id="3" name="Text 1"/>
          <p:cNvSpPr txBox="1"/>
          <p:nvPr/>
        </p:nvSpPr>
        <p:spPr>
          <a:xfrm>
            <a:off x="457200" y="713232"/>
            <a:ext cx="1124712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Purpose-Built Pools, By Design</a:t>
            </a:r>
            <a:endParaRPr lang="en-US" sz="3000" dirty="0"/>
          </a:p>
        </p:txBody>
      </p:sp>
      <p:sp>
        <p:nvSpPr>
          <p:cNvPr id="4" name="Text 2"/>
          <p:cNvSpPr txBox="1"/>
          <p:nvPr/>
        </p:nvSpPr>
        <p:spPr>
          <a:xfrm>
            <a:off x="457200" y="1234440"/>
            <a:ext cx="10607040" cy="310896"/>
          </a:xfrm>
          <a:prstGeom prst="rect">
            <a:avLst/>
          </a:prstGeom>
          <a:noFill/>
          <a:ln/>
        </p:spPr>
        <p:txBody>
          <a:bodyPr wrap="square" rtlCol="0" anchor="ctr"/>
          <a:lstStyle/>
          <a:p>
            <a:pPr indent="0" marL="0">
              <a:buNone/>
            </a:pPr>
            <a:r>
              <a:rPr lang="en-US" sz="1300" i="1" dirty="0">
                <a:solidFill>
                  <a:srgbClr val="8C93A0"/>
                </a:solidFill>
                <a:latin typeface="Calibri" pitchFamily="34" charset="0"/>
                <a:ea typeface="Calibri" pitchFamily="34" charset="-122"/>
                <a:cs typeface="Calibri" pitchFamily="34" charset="-120"/>
              </a:rPr>
              <a:t>The family's capital is deliberately segregated, not managed as a single blended portfolio.</a:t>
            </a:r>
            <a:endParaRPr lang="en-US" sz="1300" dirty="0"/>
          </a:p>
        </p:txBody>
      </p:sp>
      <p:sp>
        <p:nvSpPr>
          <p:cNvPr id="5" name="Text 3"/>
          <p:cNvSpPr txBox="1"/>
          <p:nvPr/>
        </p:nvSpPr>
        <p:spPr>
          <a:xfrm>
            <a:off x="457200" y="1664208"/>
            <a:ext cx="11064240" cy="640080"/>
          </a:xfrm>
          <a:prstGeom prst="rect">
            <a:avLst/>
          </a:prstGeom>
          <a:noFill/>
          <a:ln/>
        </p:spPr>
        <p:txBody>
          <a:bodyPr wrap="square" rtlCol="0" anchor="ctr"/>
          <a:lstStyle/>
          <a:p>
            <a:pPr indent="0" marL="0">
              <a:lnSpc>
                <a:spcPct val="125000"/>
              </a:lnSpc>
              <a:buNone/>
            </a:pPr>
            <a:r>
              <a:rPr lang="en-US" sz="1300" dirty="0">
                <a:solidFill>
                  <a:srgbClr val="0B1B2B"/>
                </a:solidFill>
                <a:latin typeface="Calibri" pitchFamily="34" charset="0"/>
                <a:ea typeface="Calibri" pitchFamily="34" charset="-122"/>
                <a:cs typeface="Calibri" pitchFamily="34" charset="-120"/>
              </a:rPr>
              <a:t>Each pool exists for a distinct reason — compounding, income, a specific liability, deal flow, or family purpose. Keeping them separate, rather than folding everything into one blended portfolio, is what makes disciplined governance, transparent reporting and precise risk management possible at family-office scale.</a:t>
            </a:r>
            <a:endParaRPr lang="en-US" sz="1300" dirty="0"/>
          </a:p>
        </p:txBody>
      </p:sp>
      <p:sp>
        <p:nvSpPr>
          <p:cNvPr id="6" name="Shape 4"/>
          <p:cNvSpPr/>
          <p:nvPr/>
        </p:nvSpPr>
        <p:spPr>
          <a:xfrm>
            <a:off x="45720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7" name="Shape 5"/>
          <p:cNvSpPr/>
          <p:nvPr/>
        </p:nvSpPr>
        <p:spPr>
          <a:xfrm>
            <a:off x="749808" y="2807208"/>
            <a:ext cx="548640" cy="548640"/>
          </a:xfrm>
          <a:prstGeom prst="ellipse">
            <a:avLst/>
          </a:prstGeom>
          <a:solidFill>
            <a:srgbClr val="C6A15B"/>
          </a:solidFill>
          <a:ln/>
        </p:spPr>
      </p:sp>
      <p:pic>
        <p:nvPicPr>
          <p:cNvPr id="8" name="Image 0" descr="preencoded.png">    </p:cNvPr>
          <p:cNvPicPr>
            <a:picLocks noChangeAspect="1"/>
          </p:cNvPicPr>
          <p:nvPr/>
        </p:nvPicPr>
        <p:blipFill>
          <a:blip r:embed="rId1"/>
          <a:stretch>
            <a:fillRect/>
          </a:stretch>
        </p:blipFill>
        <p:spPr>
          <a:xfrm>
            <a:off x="821131" y="2878531"/>
            <a:ext cx="405994" cy="405994"/>
          </a:xfrm>
          <a:prstGeom prst="rect">
            <a:avLst/>
          </a:prstGeom>
        </p:spPr>
      </p:pic>
      <p:sp>
        <p:nvSpPr>
          <p:cNvPr id="9" name="Text 6"/>
          <p:cNvSpPr txBox="1"/>
          <p:nvPr/>
        </p:nvSpPr>
        <p:spPr>
          <a:xfrm>
            <a:off x="74980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Governance</a:t>
            </a:r>
            <a:endParaRPr lang="en-US" sz="1700" dirty="0"/>
          </a:p>
        </p:txBody>
      </p:sp>
      <p:sp>
        <p:nvSpPr>
          <p:cNvPr id="10" name="Text 7"/>
          <p:cNvSpPr txBox="1"/>
          <p:nvPr/>
        </p:nvSpPr>
        <p:spPr>
          <a:xfrm>
            <a:off x="74980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Each pool carries its own mandate, benchmark and named decision-maker</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The Investment Committee approves changes pool-by-pool, not as one blended vote</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Lifestyle spending decisions never get bundled with multi-generational compounding decisions</a:t>
            </a:r>
            <a:endParaRPr lang="en-US" sz="1100" dirty="0"/>
          </a:p>
        </p:txBody>
      </p:sp>
      <p:sp>
        <p:nvSpPr>
          <p:cNvPr id="11" name="Shape 8"/>
          <p:cNvSpPr/>
          <p:nvPr/>
        </p:nvSpPr>
        <p:spPr>
          <a:xfrm>
            <a:off x="425196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12" name="Shape 9"/>
          <p:cNvSpPr/>
          <p:nvPr/>
        </p:nvSpPr>
        <p:spPr>
          <a:xfrm>
            <a:off x="4544568" y="2807208"/>
            <a:ext cx="548640" cy="548640"/>
          </a:xfrm>
          <a:prstGeom prst="ellipse">
            <a:avLst/>
          </a:prstGeom>
          <a:solidFill>
            <a:srgbClr val="C6A15B"/>
          </a:solidFill>
          <a:ln/>
        </p:spPr>
      </p:sp>
      <p:pic>
        <p:nvPicPr>
          <p:cNvPr id="13" name="Image 1" descr="preencoded.png">    </p:cNvPr>
          <p:cNvPicPr>
            <a:picLocks noChangeAspect="1"/>
          </p:cNvPicPr>
          <p:nvPr/>
        </p:nvPicPr>
        <p:blipFill>
          <a:blip r:embed="rId2"/>
          <a:stretch>
            <a:fillRect/>
          </a:stretch>
        </p:blipFill>
        <p:spPr>
          <a:xfrm>
            <a:off x="4615891" y="2878531"/>
            <a:ext cx="405994" cy="405994"/>
          </a:xfrm>
          <a:prstGeom prst="rect">
            <a:avLst/>
          </a:prstGeom>
        </p:spPr>
      </p:pic>
      <p:sp>
        <p:nvSpPr>
          <p:cNvPr id="14" name="Text 10"/>
          <p:cNvSpPr txBox="1"/>
          <p:nvPr/>
        </p:nvSpPr>
        <p:spPr>
          <a:xfrm>
            <a:off x="454456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Transparency</a:t>
            </a:r>
            <a:endParaRPr lang="en-US" sz="1700" dirty="0"/>
          </a:p>
        </p:txBody>
      </p:sp>
      <p:sp>
        <p:nvSpPr>
          <p:cNvPr id="15" name="Text 11"/>
          <p:cNvSpPr txBox="1"/>
          <p:nvPr/>
        </p:nvSpPr>
        <p:spPr>
          <a:xfrm>
            <a:off x="454456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Performance, cost and risk are reported pool-by-pool, not blended into one number</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The family can see exactly which capital is doing what, and why</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Next-generation members can engage with Philanthropy without exposure to the full balance sheet</a:t>
            </a:r>
            <a:endParaRPr lang="en-US" sz="1100" dirty="0"/>
          </a:p>
        </p:txBody>
      </p:sp>
      <p:sp>
        <p:nvSpPr>
          <p:cNvPr id="16" name="Shape 12"/>
          <p:cNvSpPr/>
          <p:nvPr/>
        </p:nvSpPr>
        <p:spPr>
          <a:xfrm>
            <a:off x="804672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17" name="Shape 13"/>
          <p:cNvSpPr/>
          <p:nvPr/>
        </p:nvSpPr>
        <p:spPr>
          <a:xfrm>
            <a:off x="8339328" y="2807208"/>
            <a:ext cx="548640" cy="548640"/>
          </a:xfrm>
          <a:prstGeom prst="ellipse">
            <a:avLst/>
          </a:prstGeom>
          <a:solidFill>
            <a:srgbClr val="C6A15B"/>
          </a:solidFill>
          <a:ln/>
        </p:spPr>
      </p:sp>
      <p:pic>
        <p:nvPicPr>
          <p:cNvPr id="18" name="Image 2" descr="preencoded.png">    </p:cNvPr>
          <p:cNvPicPr>
            <a:picLocks noChangeAspect="1"/>
          </p:cNvPicPr>
          <p:nvPr/>
        </p:nvPicPr>
        <p:blipFill>
          <a:blip r:embed="rId3"/>
          <a:stretch>
            <a:fillRect/>
          </a:stretch>
        </p:blipFill>
        <p:spPr>
          <a:xfrm>
            <a:off x="8410651" y="2878531"/>
            <a:ext cx="405994" cy="405994"/>
          </a:xfrm>
          <a:prstGeom prst="rect">
            <a:avLst/>
          </a:prstGeom>
        </p:spPr>
      </p:pic>
      <p:sp>
        <p:nvSpPr>
          <p:cNvPr id="19" name="Text 14"/>
          <p:cNvSpPr txBox="1"/>
          <p:nvPr/>
        </p:nvSpPr>
        <p:spPr>
          <a:xfrm>
            <a:off x="833932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Risk Management</a:t>
            </a:r>
            <a:endParaRPr lang="en-US" sz="1700" dirty="0"/>
          </a:p>
        </p:txBody>
      </p:sp>
      <p:sp>
        <p:nvSpPr>
          <p:cNvPr id="20" name="Text 15"/>
          <p:cNvSpPr txBox="1"/>
          <p:nvPr/>
        </p:nvSpPr>
        <p:spPr>
          <a:xfrm>
            <a:off x="833932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Ring-fencing prevents contagion — a covenant on the yacht facility can never force a sale of the core stock</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Each pool carries its own risk budget, liquidity profile and hedging protocol suited to its purpose</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Concentration and illiquidity stay visible and limited pool-by-pool, not hidden inside a blended return</a:t>
            </a:r>
            <a:endParaRPr lang="en-US" sz="1100" dirty="0"/>
          </a:p>
        </p:txBody>
      </p:sp>
      <p:sp>
        <p:nvSpPr>
          <p:cNvPr id="21" name="Text 1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2" name="Text 1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C"/>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457200" y="713232"/>
            <a:ext cx="1124712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One Family, Five Pools of Capital</a:t>
            </a:r>
            <a:endParaRPr lang="en-US" sz="3000" dirty="0"/>
          </a:p>
        </p:txBody>
      </p:sp>
      <p:sp>
        <p:nvSpPr>
          <p:cNvPr id="4" name="Text 2"/>
          <p:cNvSpPr txBox="1"/>
          <p:nvPr/>
        </p:nvSpPr>
        <p:spPr>
          <a:xfrm>
            <a:off x="457200" y="1234440"/>
            <a:ext cx="10607040" cy="365760"/>
          </a:xfrm>
          <a:prstGeom prst="rect">
            <a:avLst/>
          </a:prstGeom>
          <a:noFill/>
          <a:ln/>
        </p:spPr>
        <p:txBody>
          <a:bodyPr wrap="square" rtlCol="0" anchor="ctr"/>
          <a:lstStyle/>
          <a:p>
            <a:pPr indent="0" marL="0">
              <a:buNone/>
            </a:pPr>
            <a:r>
              <a:rPr lang="en-US" sz="1300" dirty="0">
                <a:solidFill>
                  <a:srgbClr val="8C93A0"/>
                </a:solidFill>
                <a:latin typeface="Calibri" pitchFamily="34" charset="0"/>
                <a:ea typeface="Calibri" pitchFamily="34" charset="-122"/>
                <a:cs typeface="Calibri" pitchFamily="34" charset="-120"/>
              </a:rPr>
              <a:t>Each pool is managed against its own purpose, time horizon and risk budget — together they form a single, coordinated family balance sheet.</a:t>
            </a:r>
            <a:endParaRPr lang="en-US" sz="1300" dirty="0"/>
          </a:p>
        </p:txBody>
      </p:sp>
      <p:sp>
        <p:nvSpPr>
          <p:cNvPr id="5" name="Shape 3"/>
          <p:cNvSpPr/>
          <p:nvPr/>
        </p:nvSpPr>
        <p:spPr>
          <a:xfrm>
            <a:off x="457200"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6" name="Shape 4"/>
          <p:cNvSpPr/>
          <p:nvPr/>
        </p:nvSpPr>
        <p:spPr>
          <a:xfrm>
            <a:off x="713232" y="2258568"/>
            <a:ext cx="530352" cy="530352"/>
          </a:xfrm>
          <a:prstGeom prst="ellipse">
            <a:avLst/>
          </a:prstGeom>
          <a:solidFill>
            <a:srgbClr val="C6A15B"/>
          </a:solidFill>
          <a:ln/>
        </p:spPr>
      </p:sp>
      <p:pic>
        <p:nvPicPr>
          <p:cNvPr id="7" name="Image 0" descr="preencoded.png">    </p:cNvPr>
          <p:cNvPicPr>
            <a:picLocks noChangeAspect="1"/>
          </p:cNvPicPr>
          <p:nvPr/>
        </p:nvPicPr>
        <p:blipFill>
          <a:blip r:embed="rId1"/>
          <a:stretch>
            <a:fillRect/>
          </a:stretch>
        </p:blipFill>
        <p:spPr>
          <a:xfrm>
            <a:off x="782178" y="2327514"/>
            <a:ext cx="392460" cy="392460"/>
          </a:xfrm>
          <a:prstGeom prst="rect">
            <a:avLst/>
          </a:prstGeom>
        </p:spPr>
      </p:pic>
      <p:sp>
        <p:nvSpPr>
          <p:cNvPr id="8" name="Text 5"/>
          <p:cNvSpPr txBox="1"/>
          <p:nvPr/>
        </p:nvSpPr>
        <p:spPr>
          <a:xfrm>
            <a:off x="713232"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01</a:t>
            </a:r>
            <a:endParaRPr lang="en-US" sz="1500" dirty="0"/>
          </a:p>
        </p:txBody>
      </p:sp>
      <p:sp>
        <p:nvSpPr>
          <p:cNvPr id="9" name="Text 6"/>
          <p:cNvSpPr txBox="1"/>
          <p:nvPr/>
        </p:nvSpPr>
        <p:spPr>
          <a:xfrm>
            <a:off x="713232"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Capital Growth</a:t>
            </a:r>
            <a:endParaRPr lang="en-US" sz="1450" dirty="0"/>
          </a:p>
        </p:txBody>
      </p:sp>
      <p:sp>
        <p:nvSpPr>
          <p:cNvPr id="10" name="Text 7"/>
          <p:cNvSpPr txBox="1"/>
          <p:nvPr/>
        </p:nvSpPr>
        <p:spPr>
          <a:xfrm>
            <a:off x="713232"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Multi-generational compounding of a concentrated single-stock position.</a:t>
            </a:r>
            <a:endParaRPr lang="en-US" sz="1100" dirty="0"/>
          </a:p>
        </p:txBody>
      </p:sp>
      <p:sp>
        <p:nvSpPr>
          <p:cNvPr id="11" name="Shape 8"/>
          <p:cNvSpPr/>
          <p:nvPr/>
        </p:nvSpPr>
        <p:spPr>
          <a:xfrm>
            <a:off x="2752344"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12" name="Shape 9"/>
          <p:cNvSpPr/>
          <p:nvPr/>
        </p:nvSpPr>
        <p:spPr>
          <a:xfrm>
            <a:off x="3008376" y="2258568"/>
            <a:ext cx="530352" cy="530352"/>
          </a:xfrm>
          <a:prstGeom prst="ellipse">
            <a:avLst/>
          </a:prstGeom>
          <a:solidFill>
            <a:srgbClr val="C6A15B"/>
          </a:solidFill>
          <a:ln/>
        </p:spPr>
      </p:sp>
      <p:pic>
        <p:nvPicPr>
          <p:cNvPr id="13" name="Image 1" descr="preencoded.png">    </p:cNvPr>
          <p:cNvPicPr>
            <a:picLocks noChangeAspect="1"/>
          </p:cNvPicPr>
          <p:nvPr/>
        </p:nvPicPr>
        <p:blipFill>
          <a:blip r:embed="rId2"/>
          <a:stretch>
            <a:fillRect/>
          </a:stretch>
        </p:blipFill>
        <p:spPr>
          <a:xfrm>
            <a:off x="3077322" y="2327514"/>
            <a:ext cx="392460" cy="392460"/>
          </a:xfrm>
          <a:prstGeom prst="rect">
            <a:avLst/>
          </a:prstGeom>
        </p:spPr>
      </p:pic>
      <p:sp>
        <p:nvSpPr>
          <p:cNvPr id="14" name="Text 10"/>
          <p:cNvSpPr txBox="1"/>
          <p:nvPr/>
        </p:nvSpPr>
        <p:spPr>
          <a:xfrm>
            <a:off x="3008376"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02</a:t>
            </a:r>
            <a:endParaRPr lang="en-US" sz="1500" dirty="0"/>
          </a:p>
        </p:txBody>
      </p:sp>
      <p:sp>
        <p:nvSpPr>
          <p:cNvPr id="15" name="Text 11"/>
          <p:cNvSpPr txBox="1"/>
          <p:nvPr/>
        </p:nvSpPr>
        <p:spPr>
          <a:xfrm>
            <a:off x="3008376"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Stable Yield</a:t>
            </a:r>
            <a:endParaRPr lang="en-US" sz="1450" dirty="0"/>
          </a:p>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&amp; Growth</a:t>
            </a:r>
            <a:endParaRPr lang="en-US" sz="1450" dirty="0"/>
          </a:p>
        </p:txBody>
      </p:sp>
      <p:sp>
        <p:nvSpPr>
          <p:cNvPr id="16" name="Text 12"/>
          <p:cNvSpPr txBox="1"/>
          <p:nvPr/>
        </p:nvSpPr>
        <p:spPr>
          <a:xfrm>
            <a:off x="3008376"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Diversified core portfolio targeting 7.5% p.a. total return.</a:t>
            </a:r>
            <a:endParaRPr lang="en-US" sz="1100" dirty="0"/>
          </a:p>
        </p:txBody>
      </p:sp>
      <p:sp>
        <p:nvSpPr>
          <p:cNvPr id="17" name="Shape 13"/>
          <p:cNvSpPr/>
          <p:nvPr/>
        </p:nvSpPr>
        <p:spPr>
          <a:xfrm>
            <a:off x="5047488"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18" name="Shape 14"/>
          <p:cNvSpPr/>
          <p:nvPr/>
        </p:nvSpPr>
        <p:spPr>
          <a:xfrm>
            <a:off x="5303520" y="2258568"/>
            <a:ext cx="530352" cy="530352"/>
          </a:xfrm>
          <a:prstGeom prst="ellipse">
            <a:avLst/>
          </a:prstGeom>
          <a:solidFill>
            <a:srgbClr val="C6A15B"/>
          </a:solidFill>
          <a:ln/>
        </p:spPr>
      </p:sp>
      <p:pic>
        <p:nvPicPr>
          <p:cNvPr id="19" name="Image 2" descr="preencoded.png">    </p:cNvPr>
          <p:cNvPicPr>
            <a:picLocks noChangeAspect="1"/>
          </p:cNvPicPr>
          <p:nvPr/>
        </p:nvPicPr>
        <p:blipFill>
          <a:blip r:embed="rId3"/>
          <a:stretch>
            <a:fillRect/>
          </a:stretch>
        </p:blipFill>
        <p:spPr>
          <a:xfrm>
            <a:off x="5372466" y="2327514"/>
            <a:ext cx="392460" cy="392460"/>
          </a:xfrm>
          <a:prstGeom prst="rect">
            <a:avLst/>
          </a:prstGeom>
        </p:spPr>
      </p:pic>
      <p:sp>
        <p:nvSpPr>
          <p:cNvPr id="20" name="Text 15"/>
          <p:cNvSpPr txBox="1"/>
          <p:nvPr/>
        </p:nvSpPr>
        <p:spPr>
          <a:xfrm>
            <a:off x="5303520"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03</a:t>
            </a:r>
            <a:endParaRPr lang="en-US" sz="1500" dirty="0"/>
          </a:p>
        </p:txBody>
      </p:sp>
      <p:sp>
        <p:nvSpPr>
          <p:cNvPr id="21" name="Text 16"/>
          <p:cNvSpPr txBox="1"/>
          <p:nvPr/>
        </p:nvSpPr>
        <p:spPr>
          <a:xfrm>
            <a:off x="5303520"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Yacht Facility</a:t>
            </a:r>
            <a:endParaRPr lang="en-US" sz="1450" dirty="0"/>
          </a:p>
        </p:txBody>
      </p:sp>
      <p:sp>
        <p:nvSpPr>
          <p:cNvPr id="22" name="Text 17"/>
          <p:cNvSpPr txBox="1"/>
          <p:nvPr/>
        </p:nvSpPr>
        <p:spPr>
          <a:xfrm>
            <a:off x="5303520"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Lending-led structure funding purchase and running costs.</a:t>
            </a:r>
            <a:endParaRPr lang="en-US" sz="1100" dirty="0"/>
          </a:p>
        </p:txBody>
      </p:sp>
      <p:sp>
        <p:nvSpPr>
          <p:cNvPr id="23" name="Shape 18"/>
          <p:cNvSpPr/>
          <p:nvPr/>
        </p:nvSpPr>
        <p:spPr>
          <a:xfrm>
            <a:off x="7342632"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24" name="Shape 19"/>
          <p:cNvSpPr/>
          <p:nvPr/>
        </p:nvSpPr>
        <p:spPr>
          <a:xfrm>
            <a:off x="7598664" y="2258568"/>
            <a:ext cx="530352" cy="530352"/>
          </a:xfrm>
          <a:prstGeom prst="ellipse">
            <a:avLst/>
          </a:prstGeom>
          <a:solidFill>
            <a:srgbClr val="C6A15B"/>
          </a:solidFill>
          <a:ln/>
        </p:spPr>
      </p:sp>
      <p:pic>
        <p:nvPicPr>
          <p:cNvPr id="25" name="Image 3" descr="preencoded.png">    </p:cNvPr>
          <p:cNvPicPr>
            <a:picLocks noChangeAspect="1"/>
          </p:cNvPicPr>
          <p:nvPr/>
        </p:nvPicPr>
        <p:blipFill>
          <a:blip r:embed="rId4"/>
          <a:stretch>
            <a:fillRect/>
          </a:stretch>
        </p:blipFill>
        <p:spPr>
          <a:xfrm>
            <a:off x="7667610" y="2327514"/>
            <a:ext cx="392460" cy="392460"/>
          </a:xfrm>
          <a:prstGeom prst="rect">
            <a:avLst/>
          </a:prstGeom>
        </p:spPr>
      </p:pic>
      <p:sp>
        <p:nvSpPr>
          <p:cNvPr id="26" name="Text 20"/>
          <p:cNvSpPr txBox="1"/>
          <p:nvPr/>
        </p:nvSpPr>
        <p:spPr>
          <a:xfrm>
            <a:off x="7598664"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04</a:t>
            </a:r>
            <a:endParaRPr lang="en-US" sz="1500" dirty="0"/>
          </a:p>
        </p:txBody>
      </p:sp>
      <p:sp>
        <p:nvSpPr>
          <p:cNvPr id="27" name="Text 21"/>
          <p:cNvSpPr txBox="1"/>
          <p:nvPr/>
        </p:nvSpPr>
        <p:spPr>
          <a:xfrm>
            <a:off x="7598664"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Opportunistic</a:t>
            </a:r>
            <a:endParaRPr lang="en-US" sz="1450" dirty="0"/>
          </a:p>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&amp; Private Markets</a:t>
            </a:r>
            <a:endParaRPr lang="en-US" sz="1450" dirty="0"/>
          </a:p>
        </p:txBody>
      </p:sp>
      <p:sp>
        <p:nvSpPr>
          <p:cNvPr id="28" name="Text 22"/>
          <p:cNvSpPr txBox="1"/>
          <p:nvPr/>
        </p:nvSpPr>
        <p:spPr>
          <a:xfrm>
            <a:off x="7598664"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Direct deal flow and private-market co-investment.</a:t>
            </a:r>
            <a:endParaRPr lang="en-US" sz="1100" dirty="0"/>
          </a:p>
        </p:txBody>
      </p:sp>
      <p:sp>
        <p:nvSpPr>
          <p:cNvPr id="29" name="Shape 23"/>
          <p:cNvSpPr/>
          <p:nvPr/>
        </p:nvSpPr>
        <p:spPr>
          <a:xfrm>
            <a:off x="9637776"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30" name="Shape 24"/>
          <p:cNvSpPr/>
          <p:nvPr/>
        </p:nvSpPr>
        <p:spPr>
          <a:xfrm>
            <a:off x="9893808" y="2258568"/>
            <a:ext cx="530352" cy="530352"/>
          </a:xfrm>
          <a:prstGeom prst="ellipse">
            <a:avLst/>
          </a:prstGeom>
          <a:solidFill>
            <a:srgbClr val="C6A15B"/>
          </a:solidFill>
          <a:ln/>
        </p:spPr>
      </p:sp>
      <p:pic>
        <p:nvPicPr>
          <p:cNvPr id="31" name="Image 4" descr="preencoded.png">    </p:cNvPr>
          <p:cNvPicPr>
            <a:picLocks noChangeAspect="1"/>
          </p:cNvPicPr>
          <p:nvPr/>
        </p:nvPicPr>
        <p:blipFill>
          <a:blip r:embed="rId5"/>
          <a:stretch>
            <a:fillRect/>
          </a:stretch>
        </p:blipFill>
        <p:spPr>
          <a:xfrm>
            <a:off x="9962754" y="2327514"/>
            <a:ext cx="392460" cy="392460"/>
          </a:xfrm>
          <a:prstGeom prst="rect">
            <a:avLst/>
          </a:prstGeom>
        </p:spPr>
      </p:pic>
      <p:sp>
        <p:nvSpPr>
          <p:cNvPr id="32" name="Text 25"/>
          <p:cNvSpPr txBox="1"/>
          <p:nvPr/>
        </p:nvSpPr>
        <p:spPr>
          <a:xfrm>
            <a:off x="9893808"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05</a:t>
            </a:r>
            <a:endParaRPr lang="en-US" sz="1500" dirty="0"/>
          </a:p>
        </p:txBody>
      </p:sp>
      <p:sp>
        <p:nvSpPr>
          <p:cNvPr id="33" name="Text 26"/>
          <p:cNvSpPr txBox="1"/>
          <p:nvPr/>
        </p:nvSpPr>
        <p:spPr>
          <a:xfrm>
            <a:off x="9893808"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Philanthropy</a:t>
            </a:r>
            <a:endParaRPr lang="en-US" sz="1450" dirty="0"/>
          </a:p>
        </p:txBody>
      </p:sp>
      <p:sp>
        <p:nvSpPr>
          <p:cNvPr id="34" name="Text 27"/>
          <p:cNvSpPr txBox="1"/>
          <p:nvPr/>
        </p:nvSpPr>
        <p:spPr>
          <a:xfrm>
            <a:off x="9893808"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Multi-year funding for AI-driven medicine research.</a:t>
            </a:r>
            <a:endParaRPr lang="en-US" sz="1100" dirty="0"/>
          </a:p>
        </p:txBody>
      </p:sp>
      <p:sp>
        <p:nvSpPr>
          <p:cNvPr id="35" name="Text 28"/>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6" name="Text 29"/>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CAPITAL STRUCTURE</a:t>
            </a:r>
            <a:endParaRPr lang="en-US" sz="1100" dirty="0"/>
          </a:p>
        </p:txBody>
      </p:sp>
      <p:sp>
        <p:nvSpPr>
          <p:cNvPr id="3" name="Text 1"/>
          <p:cNvSpPr txBox="1"/>
          <p:nvPr/>
        </p:nvSpPr>
        <p:spPr>
          <a:xfrm>
            <a:off x="457200" y="713232"/>
            <a:ext cx="91440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Illustrative Capital Allocation</a:t>
            </a:r>
            <a:endParaRPr lang="en-US" sz="3000" dirty="0"/>
          </a:p>
        </p:txBody>
      </p:sp>
      <p:sp>
        <p:nvSpPr>
          <p:cNvPr id="4" name="Text 2"/>
          <p:cNvSpPr txBox="1"/>
          <p:nvPr/>
        </p:nvSpPr>
        <p:spPr>
          <a:xfrm>
            <a:off x="457200" y="1234440"/>
            <a:ext cx="9144000" cy="310896"/>
          </a:xfrm>
          <a:prstGeom prst="rect">
            <a:avLst/>
          </a:prstGeom>
          <a:noFill/>
          <a:ln/>
        </p:spPr>
        <p:txBody>
          <a:bodyPr wrap="square" rtlCol="0" anchor="ctr"/>
          <a:lstStyle/>
          <a:p>
            <a:pPr indent="0" marL="0">
              <a:buNone/>
            </a:pPr>
            <a:r>
              <a:rPr lang="en-US" sz="1250" i="1" dirty="0">
                <a:solidFill>
                  <a:srgbClr val="8C93A0"/>
                </a:solidFill>
                <a:latin typeface="Calibri" pitchFamily="34" charset="0"/>
                <a:ea typeface="Calibri" pitchFamily="34" charset="-122"/>
                <a:cs typeface="Calibri" pitchFamily="34" charset="-120"/>
              </a:rPr>
              <a:t>Indicative target weights, to be finalised in the Investment Policy Statement.</a:t>
            </a:r>
            <a:endParaRPr lang="en-US" sz="1250" dirty="0"/>
          </a:p>
        </p:txBody>
      </p:sp>
      <p:graphicFrame>
        <p:nvGraphicFramePr>
          <p:cNvPr id="5" name="Chart 0" descr=""/>
          <p:cNvGraphicFramePr/>
          <p:nvPr/>
        </p:nvGraphicFramePr>
        <p:xfrm>
          <a:off x="50292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806440" y="1883664"/>
            <a:ext cx="164592" cy="164592"/>
          </a:xfrm>
          <a:prstGeom prst="rect">
            <a:avLst/>
          </a:prstGeom>
          <a:solidFill>
            <a:srgbClr val="0B1B2B"/>
          </a:solidFill>
          <a:ln/>
        </p:spPr>
      </p:sp>
      <p:sp>
        <p:nvSpPr>
          <p:cNvPr id="7" name="Text 4"/>
          <p:cNvSpPr txBox="1"/>
          <p:nvPr/>
        </p:nvSpPr>
        <p:spPr>
          <a:xfrm>
            <a:off x="6080760" y="1792224"/>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Capital Growth  —  30%</a:t>
            </a:r>
            <a:endParaRPr lang="en-US" sz="1300" dirty="0"/>
          </a:p>
        </p:txBody>
      </p:sp>
      <p:sp>
        <p:nvSpPr>
          <p:cNvPr id="8" name="Text 5"/>
          <p:cNvSpPr txBox="1"/>
          <p:nvPr/>
        </p:nvSpPr>
        <p:spPr>
          <a:xfrm>
            <a:off x="6080760" y="2066544"/>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Multi-generational compounding</a:t>
            </a:r>
            <a:endParaRPr lang="en-US" sz="1100" dirty="0"/>
          </a:p>
        </p:txBody>
      </p:sp>
      <p:sp>
        <p:nvSpPr>
          <p:cNvPr id="9" name="Shape 6"/>
          <p:cNvSpPr/>
          <p:nvPr/>
        </p:nvSpPr>
        <p:spPr>
          <a:xfrm>
            <a:off x="5806440" y="2542032"/>
            <a:ext cx="164592" cy="164592"/>
          </a:xfrm>
          <a:prstGeom prst="rect">
            <a:avLst/>
          </a:prstGeom>
          <a:solidFill>
            <a:srgbClr val="C6A15B"/>
          </a:solidFill>
          <a:ln/>
        </p:spPr>
      </p:sp>
      <p:sp>
        <p:nvSpPr>
          <p:cNvPr id="10" name="Text 7"/>
          <p:cNvSpPr txBox="1"/>
          <p:nvPr/>
        </p:nvSpPr>
        <p:spPr>
          <a:xfrm>
            <a:off x="6080760" y="2450592"/>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Stable Yield &amp; Growth  —  35%</a:t>
            </a:r>
            <a:endParaRPr lang="en-US" sz="1300" dirty="0"/>
          </a:p>
        </p:txBody>
      </p:sp>
      <p:sp>
        <p:nvSpPr>
          <p:cNvPr id="11" name="Text 8"/>
          <p:cNvSpPr txBox="1"/>
          <p:nvPr/>
        </p:nvSpPr>
        <p:spPr>
          <a:xfrm>
            <a:off x="6080760" y="2724912"/>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Core income and growth engine</a:t>
            </a:r>
            <a:endParaRPr lang="en-US" sz="1100" dirty="0"/>
          </a:p>
        </p:txBody>
      </p:sp>
      <p:sp>
        <p:nvSpPr>
          <p:cNvPr id="12" name="Shape 9"/>
          <p:cNvSpPr/>
          <p:nvPr/>
        </p:nvSpPr>
        <p:spPr>
          <a:xfrm>
            <a:off x="5806440" y="3200400"/>
            <a:ext cx="164592" cy="164592"/>
          </a:xfrm>
          <a:prstGeom prst="rect">
            <a:avLst/>
          </a:prstGeom>
          <a:solidFill>
            <a:srgbClr val="8C2F39"/>
          </a:solidFill>
          <a:ln/>
        </p:spPr>
      </p:sp>
      <p:sp>
        <p:nvSpPr>
          <p:cNvPr id="13" name="Text 10"/>
          <p:cNvSpPr txBox="1"/>
          <p:nvPr/>
        </p:nvSpPr>
        <p:spPr>
          <a:xfrm>
            <a:off x="6080760" y="3108960"/>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Opportunistic / Private Markets  —  20%</a:t>
            </a:r>
            <a:endParaRPr lang="en-US" sz="1300" dirty="0"/>
          </a:p>
        </p:txBody>
      </p:sp>
      <p:sp>
        <p:nvSpPr>
          <p:cNvPr id="14" name="Text 11"/>
          <p:cNvSpPr txBox="1"/>
          <p:nvPr/>
        </p:nvSpPr>
        <p:spPr>
          <a:xfrm>
            <a:off x="6080760" y="3383280"/>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Differentiated alpha, deal flow</a:t>
            </a:r>
            <a:endParaRPr lang="en-US" sz="1100" dirty="0"/>
          </a:p>
        </p:txBody>
      </p:sp>
      <p:sp>
        <p:nvSpPr>
          <p:cNvPr id="15" name="Shape 12"/>
          <p:cNvSpPr/>
          <p:nvPr/>
        </p:nvSpPr>
        <p:spPr>
          <a:xfrm>
            <a:off x="5806440" y="3858768"/>
            <a:ext cx="164592" cy="164592"/>
          </a:xfrm>
          <a:prstGeom prst="rect">
            <a:avLst/>
          </a:prstGeom>
          <a:solidFill>
            <a:srgbClr val="5C7A73"/>
          </a:solidFill>
          <a:ln/>
        </p:spPr>
      </p:sp>
      <p:sp>
        <p:nvSpPr>
          <p:cNvPr id="16" name="Text 13"/>
          <p:cNvSpPr txBox="1"/>
          <p:nvPr/>
        </p:nvSpPr>
        <p:spPr>
          <a:xfrm>
            <a:off x="6080760" y="3767328"/>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Philanthropy  —  10%</a:t>
            </a:r>
            <a:endParaRPr lang="en-US" sz="1300" dirty="0"/>
          </a:p>
        </p:txBody>
      </p:sp>
      <p:sp>
        <p:nvSpPr>
          <p:cNvPr id="17" name="Text 14"/>
          <p:cNvSpPr txBox="1"/>
          <p:nvPr/>
        </p:nvSpPr>
        <p:spPr>
          <a:xfrm>
            <a:off x="6080760" y="4041648"/>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Purpose and family legacy</a:t>
            </a:r>
            <a:endParaRPr lang="en-US" sz="1100" dirty="0"/>
          </a:p>
        </p:txBody>
      </p:sp>
      <p:sp>
        <p:nvSpPr>
          <p:cNvPr id="18" name="Shape 15"/>
          <p:cNvSpPr/>
          <p:nvPr/>
        </p:nvSpPr>
        <p:spPr>
          <a:xfrm>
            <a:off x="5806440" y="4517136"/>
            <a:ext cx="164592" cy="164592"/>
          </a:xfrm>
          <a:prstGeom prst="rect">
            <a:avLst/>
          </a:prstGeom>
          <a:solidFill>
            <a:srgbClr val="8C93A0"/>
          </a:solidFill>
          <a:ln/>
        </p:spPr>
      </p:sp>
      <p:sp>
        <p:nvSpPr>
          <p:cNvPr id="19" name="Text 16"/>
          <p:cNvSpPr txBox="1"/>
          <p:nvPr/>
        </p:nvSpPr>
        <p:spPr>
          <a:xfrm>
            <a:off x="6080760" y="4425696"/>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Liquidity Reserve  —  5%</a:t>
            </a:r>
            <a:endParaRPr lang="en-US" sz="1300" dirty="0"/>
          </a:p>
        </p:txBody>
      </p:sp>
      <p:sp>
        <p:nvSpPr>
          <p:cNvPr id="20" name="Text 17"/>
          <p:cNvSpPr txBox="1"/>
          <p:nvPr/>
        </p:nvSpPr>
        <p:spPr>
          <a:xfrm>
            <a:off x="6080760" y="4700016"/>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Flexibility and lending buffer</a:t>
            </a:r>
            <a:endParaRPr lang="en-US" sz="1100" dirty="0"/>
          </a:p>
        </p:txBody>
      </p:sp>
      <p:sp>
        <p:nvSpPr>
          <p:cNvPr id="21" name="Shape 18"/>
          <p:cNvSpPr/>
          <p:nvPr/>
        </p:nvSpPr>
        <p:spPr>
          <a:xfrm>
            <a:off x="5806440" y="5230368"/>
            <a:ext cx="5852160" cy="960120"/>
          </a:xfrm>
          <a:prstGeom prst="roundRect">
            <a:avLst>
              <a:gd name="adj" fmla="val 6667"/>
            </a:avLst>
          </a:prstGeom>
          <a:solidFill>
            <a:srgbClr val="F6F3EC"/>
          </a:solidFill>
          <a:ln/>
        </p:spPr>
      </p:sp>
      <p:sp>
        <p:nvSpPr>
          <p:cNvPr id="22" name="Text 19"/>
          <p:cNvSpPr txBox="1"/>
          <p:nvPr/>
        </p:nvSpPr>
        <p:spPr>
          <a:xfrm>
            <a:off x="6035040" y="5321808"/>
            <a:ext cx="5394960" cy="822960"/>
          </a:xfrm>
          <a:prstGeom prst="rect">
            <a:avLst/>
          </a:prstGeom>
          <a:noFill/>
          <a:ln/>
        </p:spPr>
        <p:txBody>
          <a:bodyPr wrap="square" rtlCol="0" anchor="ctr"/>
          <a:lstStyle/>
          <a:p>
            <a:pPr indent="0" marL="0">
              <a:lnSpc>
                <a:spcPct val="115000"/>
              </a:lnSpc>
              <a:buNone/>
            </a:pPr>
            <a:r>
              <a:rPr lang="en-US" sz="1050" i="1" dirty="0">
                <a:solidFill>
                  <a:srgbClr val="0B1B2B"/>
                </a:solidFill>
                <a:latin typeface="Calibri" pitchFamily="34" charset="0"/>
                <a:ea typeface="Calibri" pitchFamily="34" charset="-122"/>
                <a:cs typeface="Calibri" pitchFamily="34" charset="-120"/>
              </a:rPr>
              <a:t>The yacht facility is funded through securities-backed lending collateralised against Pools 1–2 and the liquidity reserve — it is a liability structure, not a separate capital allocation.</a:t>
            </a:r>
            <a:endParaRPr lang="en-US" sz="1050" dirty="0"/>
          </a:p>
        </p:txBody>
      </p:sp>
      <p:sp>
        <p:nvSpPr>
          <p:cNvPr id="23" name="Text 20"/>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4" name="Text 21"/>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01</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Capital Growth</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Multi-Generational Wealth · Concentrated Equity Exposure</a:t>
            </a:r>
            <a:endParaRPr lang="en-US" sz="1350" dirty="0"/>
          </a:p>
        </p:txBody>
      </p:sp>
      <p:sp>
        <p:nvSpPr>
          <p:cNvPr id="7" name="Text 4"/>
          <p:cNvSpPr txBox="1"/>
          <p:nvPr/>
        </p:nvSpPr>
        <p:spPr>
          <a:xfrm>
            <a:off x="457200" y="1783080"/>
            <a:ext cx="612648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12648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Preserve and compound the family's core concentrated equity position across generations, without forced diversification eroding long-run value.</a:t>
            </a:r>
            <a:endParaRPr lang="en-US" sz="1300" dirty="0"/>
          </a:p>
        </p:txBody>
      </p:sp>
      <p:sp>
        <p:nvSpPr>
          <p:cNvPr id="9" name="Text 6"/>
          <p:cNvSpPr txBox="1"/>
          <p:nvPr/>
        </p:nvSpPr>
        <p:spPr>
          <a:xfrm>
            <a:off x="457200" y="2788920"/>
            <a:ext cx="6126480" cy="320040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Hold the core position for the long term; avoid unnecessary taxable realisation events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Manage concentration risk with collars, protective puts or exchange funds rather than outright sales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Ring-fence the holding inside a multi-generational trust for succession and estate efficiency</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Fund incremental diversification from dividends and option premium, not core capital</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Formal concentration-risk and hedge review with the Investment Committee at least annually</a:t>
            </a:r>
            <a:endParaRPr lang="en-US" sz="1250" dirty="0"/>
          </a:p>
        </p:txBody>
      </p:sp>
      <p:sp>
        <p:nvSpPr>
          <p:cNvPr id="10" name="Shape 7"/>
          <p:cNvSpPr/>
          <p:nvPr/>
        </p:nvSpPr>
        <p:spPr>
          <a:xfrm>
            <a:off x="6903720" y="1783080"/>
            <a:ext cx="2331720" cy="1417320"/>
          </a:xfrm>
          <a:prstGeom prst="roundRect">
            <a:avLst>
              <a:gd name="adj" fmla="val 5161"/>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2002536" cy="85039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20+ yrs</a:t>
            </a:r>
            <a:endParaRPr lang="en-US" sz="2600" dirty="0"/>
          </a:p>
        </p:txBody>
      </p:sp>
      <p:sp>
        <p:nvSpPr>
          <p:cNvPr id="12" name="Text 9"/>
          <p:cNvSpPr txBox="1"/>
          <p:nvPr/>
        </p:nvSpPr>
        <p:spPr>
          <a:xfrm>
            <a:off x="7068312" y="277977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Target holding horizon</a:t>
            </a:r>
            <a:endParaRPr lang="en-US" sz="1050" dirty="0"/>
          </a:p>
        </p:txBody>
      </p:sp>
      <p:sp>
        <p:nvSpPr>
          <p:cNvPr id="13" name="Shape 10"/>
          <p:cNvSpPr/>
          <p:nvPr/>
        </p:nvSpPr>
        <p:spPr>
          <a:xfrm>
            <a:off x="9372600" y="1783080"/>
            <a:ext cx="2331720" cy="1417320"/>
          </a:xfrm>
          <a:prstGeom prst="roundRect">
            <a:avLst>
              <a:gd name="adj" fmla="val 5161"/>
            </a:avLst>
          </a:prstGeom>
          <a:solidFill>
            <a:srgbClr val="0B1B2B"/>
          </a:solidFill>
          <a:ln/>
          <a:effectLst>
            <a:outerShdw sx="100000" sy="100000" kx="0" ky="0" algn="bl" rotWithShape="0" blurRad="101600" dist="38100" dir="5400000">
              <a:srgbClr val="071320">
                <a:alpha val="25000"/>
              </a:srgbClr>
            </a:outerShdw>
          </a:effectLst>
        </p:spPr>
      </p:sp>
      <p:sp>
        <p:nvSpPr>
          <p:cNvPr id="14" name="Text 11"/>
          <p:cNvSpPr txBox="1"/>
          <p:nvPr/>
        </p:nvSpPr>
        <p:spPr>
          <a:xfrm>
            <a:off x="9537192" y="1892808"/>
            <a:ext cx="2002536" cy="85039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Trust-Held</a:t>
            </a:r>
            <a:endParaRPr lang="en-US" sz="2600" dirty="0"/>
          </a:p>
        </p:txBody>
      </p:sp>
      <p:sp>
        <p:nvSpPr>
          <p:cNvPr id="15" name="Text 12"/>
          <p:cNvSpPr txBox="1"/>
          <p:nvPr/>
        </p:nvSpPr>
        <p:spPr>
          <a:xfrm>
            <a:off x="9537192" y="277977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Succession structuring vehicle</a:t>
            </a:r>
            <a:endParaRPr lang="en-US" sz="1050" dirty="0"/>
          </a:p>
        </p:txBody>
      </p:sp>
      <p:sp>
        <p:nvSpPr>
          <p:cNvPr id="16" name="Shape 13"/>
          <p:cNvSpPr/>
          <p:nvPr/>
        </p:nvSpPr>
        <p:spPr>
          <a:xfrm>
            <a:off x="6903720" y="3703320"/>
            <a:ext cx="4800600" cy="2286000"/>
          </a:xfrm>
          <a:prstGeom prst="roundRect">
            <a:avLst>
              <a:gd name="adj" fmla="val 3200"/>
            </a:avLst>
          </a:prstGeom>
          <a:solidFill>
            <a:srgbClr val="FFFFFF"/>
          </a:solidFill>
          <a:ln w="12700">
            <a:solidFill>
              <a:srgbClr val="E3DFD3"/>
            </a:solidFill>
            <a:prstDash val="solid"/>
          </a:ln>
          <a:effectLst>
            <a:outerShdw sx="100000" sy="100000" kx="0" ky="0" algn="bl" rotWithShape="0" blurRad="101600" dist="38100" dir="5400000">
              <a:srgbClr val="071320">
                <a:alpha val="25000"/>
              </a:srgbClr>
            </a:outerShdw>
          </a:effectLst>
        </p:spPr>
      </p:sp>
      <p:sp>
        <p:nvSpPr>
          <p:cNvPr id="17" name="Text 14"/>
          <p:cNvSpPr txBox="1"/>
          <p:nvPr/>
        </p:nvSpPr>
        <p:spPr>
          <a:xfrm>
            <a:off x="7132320" y="3886200"/>
            <a:ext cx="4343400" cy="274320"/>
          </a:xfrm>
          <a:prstGeom prst="rect">
            <a:avLst/>
          </a:prstGeom>
          <a:noFill/>
          <a:ln/>
        </p:spPr>
        <p:txBody>
          <a:bodyPr wrap="square" rtlCol="0" anchor="ctr"/>
          <a:lstStyle/>
          <a:p>
            <a:pPr indent="0" marL="0">
              <a:buNone/>
            </a:pPr>
            <a:r>
              <a:rPr lang="en-US" sz="1250" b="1" dirty="0">
                <a:solidFill>
                  <a:srgbClr val="0B1B2B"/>
                </a:solidFill>
                <a:latin typeface="Cambria" pitchFamily="34" charset="0"/>
                <a:ea typeface="Cambria" pitchFamily="34" charset="-122"/>
                <a:cs typeface="Cambria" pitchFamily="34" charset="-120"/>
              </a:rPr>
              <a:t>Structuring for succession</a:t>
            </a:r>
            <a:endParaRPr lang="en-US" sz="1250" dirty="0"/>
          </a:p>
        </p:txBody>
      </p:sp>
      <p:sp>
        <p:nvSpPr>
          <p:cNvPr id="18" name="Shape 15"/>
          <p:cNvSpPr/>
          <p:nvPr/>
        </p:nvSpPr>
        <p:spPr>
          <a:xfrm>
            <a:off x="7406640" y="4663440"/>
            <a:ext cx="777240" cy="777240"/>
          </a:xfrm>
          <a:prstGeom prst="ellipse">
            <a:avLst/>
          </a:prstGeom>
          <a:solidFill>
            <a:srgbClr val="0B1B2B"/>
          </a:solidFill>
          <a:ln/>
        </p:spPr>
      </p:sp>
      <p:sp>
        <p:nvSpPr>
          <p:cNvPr id="19" name="Text 16"/>
          <p:cNvSpPr txBox="1"/>
          <p:nvPr/>
        </p:nvSpPr>
        <p:spPr>
          <a:xfrm>
            <a:off x="740664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1</a:t>
            </a:r>
            <a:endParaRPr lang="en-US" sz="1800" dirty="0"/>
          </a:p>
        </p:txBody>
      </p:sp>
      <p:sp>
        <p:nvSpPr>
          <p:cNvPr id="20" name="Text 17"/>
          <p:cNvSpPr txBox="1"/>
          <p:nvPr/>
        </p:nvSpPr>
        <p:spPr>
          <a:xfrm>
            <a:off x="704088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Founding</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a:t>
            </a:r>
            <a:endParaRPr lang="en-US" sz="1000" dirty="0"/>
          </a:p>
        </p:txBody>
      </p:sp>
      <p:sp>
        <p:nvSpPr>
          <p:cNvPr id="21" name="Shape 18"/>
          <p:cNvSpPr/>
          <p:nvPr/>
        </p:nvSpPr>
        <p:spPr>
          <a:xfrm>
            <a:off x="8183880" y="5052060"/>
            <a:ext cx="731520" cy="0"/>
          </a:xfrm>
          <a:prstGeom prst="line">
            <a:avLst/>
          </a:prstGeom>
          <a:noFill/>
          <a:ln w="22225">
            <a:solidFill>
              <a:srgbClr val="C6A15B"/>
            </a:solidFill>
            <a:prstDash val="solid"/>
            <a:tailEnd type="triangle"/>
          </a:ln>
        </p:spPr>
      </p:sp>
      <p:sp>
        <p:nvSpPr>
          <p:cNvPr id="22" name="Shape 19"/>
          <p:cNvSpPr/>
          <p:nvPr/>
        </p:nvSpPr>
        <p:spPr>
          <a:xfrm>
            <a:off x="8915400" y="4663440"/>
            <a:ext cx="777240" cy="777240"/>
          </a:xfrm>
          <a:prstGeom prst="ellipse">
            <a:avLst/>
          </a:prstGeom>
          <a:solidFill>
            <a:srgbClr val="0B1B2B"/>
          </a:solidFill>
          <a:ln/>
        </p:spPr>
      </p:sp>
      <p:sp>
        <p:nvSpPr>
          <p:cNvPr id="23" name="Text 20"/>
          <p:cNvSpPr txBox="1"/>
          <p:nvPr/>
        </p:nvSpPr>
        <p:spPr>
          <a:xfrm>
            <a:off x="891540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2</a:t>
            </a:r>
            <a:endParaRPr lang="en-US" sz="1800" dirty="0"/>
          </a:p>
        </p:txBody>
      </p:sp>
      <p:sp>
        <p:nvSpPr>
          <p:cNvPr id="24" name="Text 21"/>
          <p:cNvSpPr txBox="1"/>
          <p:nvPr/>
        </p:nvSpPr>
        <p:spPr>
          <a:xfrm>
            <a:off x="854964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Next</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a:t>
            </a:r>
            <a:endParaRPr lang="en-US" sz="1000" dirty="0"/>
          </a:p>
        </p:txBody>
      </p:sp>
      <p:sp>
        <p:nvSpPr>
          <p:cNvPr id="25" name="Shape 22"/>
          <p:cNvSpPr/>
          <p:nvPr/>
        </p:nvSpPr>
        <p:spPr>
          <a:xfrm>
            <a:off x="9692640" y="5052060"/>
            <a:ext cx="731520" cy="0"/>
          </a:xfrm>
          <a:prstGeom prst="line">
            <a:avLst/>
          </a:prstGeom>
          <a:noFill/>
          <a:ln w="22225">
            <a:solidFill>
              <a:srgbClr val="C6A15B"/>
            </a:solidFill>
            <a:prstDash val="solid"/>
            <a:tailEnd type="triangle"/>
          </a:ln>
        </p:spPr>
      </p:sp>
      <p:sp>
        <p:nvSpPr>
          <p:cNvPr id="26" name="Shape 23"/>
          <p:cNvSpPr/>
          <p:nvPr/>
        </p:nvSpPr>
        <p:spPr>
          <a:xfrm>
            <a:off x="10424160" y="4663440"/>
            <a:ext cx="777240" cy="777240"/>
          </a:xfrm>
          <a:prstGeom prst="ellipse">
            <a:avLst/>
          </a:prstGeom>
          <a:solidFill>
            <a:srgbClr val="0B1B2B"/>
          </a:solidFill>
          <a:ln/>
        </p:spPr>
      </p:sp>
      <p:sp>
        <p:nvSpPr>
          <p:cNvPr id="27" name="Text 24"/>
          <p:cNvSpPr txBox="1"/>
          <p:nvPr/>
        </p:nvSpPr>
        <p:spPr>
          <a:xfrm>
            <a:off x="1042416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3</a:t>
            </a:r>
            <a:endParaRPr lang="en-US" sz="1800" dirty="0"/>
          </a:p>
        </p:txBody>
      </p:sp>
      <p:sp>
        <p:nvSpPr>
          <p:cNvPr id="28" name="Text 25"/>
          <p:cNvSpPr txBox="1"/>
          <p:nvPr/>
        </p:nvSpPr>
        <p:spPr>
          <a:xfrm>
            <a:off x="1005840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Future</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Generations</a:t>
            </a:r>
            <a:endParaRPr lang="en-US" sz="1000" dirty="0"/>
          </a:p>
        </p:txBody>
      </p:sp>
      <p:sp>
        <p:nvSpPr>
          <p:cNvPr id="29" name="Text 2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0" name="Text 2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02</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Stable Yield &amp; Growth</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The Core Portfolio · Target 7.5% p.a. Total Return</a:t>
            </a:r>
            <a:endParaRPr lang="en-US" sz="1350" dirty="0"/>
          </a:p>
        </p:txBody>
      </p:sp>
      <p:sp>
        <p:nvSpPr>
          <p:cNvPr id="7" name="Text 4"/>
          <p:cNvSpPr txBox="1"/>
          <p:nvPr/>
        </p:nvSpPr>
        <p:spPr>
          <a:xfrm>
            <a:off x="457200" y="1783080"/>
            <a:ext cx="594360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594360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A diversified, liquid core portfolio blending income and growth to deliver a consistent 7.5% p.a. total return through market cycles.</a:t>
            </a:r>
            <a:endParaRPr lang="en-US" sz="1300" dirty="0"/>
          </a:p>
        </p:txBody>
      </p:sp>
      <p:sp>
        <p:nvSpPr>
          <p:cNvPr id="9" name="Text 6"/>
          <p:cNvSpPr txBox="1"/>
          <p:nvPr/>
        </p:nvSpPr>
        <p:spPr>
          <a:xfrm>
            <a:off x="457200" y="2651760"/>
            <a:ext cx="5943600" cy="2103120"/>
          </a:xfrm>
          <a:prstGeom prst="rect">
            <a:avLst/>
          </a:prstGeom>
          <a:noFill/>
          <a:ln/>
        </p:spPr>
        <p:txBody>
          <a:bodyPr wrap="square" rtlCol="0" anchor="t"/>
          <a:lstStyle/>
          <a:p>
            <a:pPr marL="177800" indent="-177800">
              <a:lnSpc>
                <a:spcPct val="115000"/>
              </a:lnSpc>
              <a:spcAft>
                <a:spcPts val="600"/>
              </a:spcAft>
              <a:buSzPct val="100000"/>
              <a:buChar char="●"/>
            </a:pPr>
            <a:r>
              <a:rPr lang="en-US" sz="1200" dirty="0">
                <a:solidFill>
                  <a:srgbClr val="0B1B2B"/>
                </a:solidFill>
                <a:latin typeface="Calibri" pitchFamily="34" charset="0"/>
                <a:ea typeface="Calibri" pitchFamily="34" charset="-122"/>
                <a:cs typeface="Calibri" pitchFamily="34" charset="-120"/>
              </a:rPr>
              <a:t>Global multi-asset mandate spanning equities, credit, real assets and diversifying strategies</a:t>
            </a:r>
            <a:endParaRPr lang="en-US" sz="1200" dirty="0"/>
          </a:p>
          <a:p>
            <a:pPr marL="177800" indent="-177800">
              <a:lnSpc>
                <a:spcPct val="115000"/>
              </a:lnSpc>
              <a:spcAft>
                <a:spcPts val="600"/>
              </a:spcAft>
              <a:buSzPct val="100000"/>
              <a:buChar char="●"/>
            </a:pPr>
            <a:r>
              <a:rPr lang="en-US" sz="1200" dirty="0">
                <a:solidFill>
                  <a:srgbClr val="0B1B2B"/>
                </a:solidFill>
                <a:latin typeface="Calibri" pitchFamily="34" charset="0"/>
                <a:ea typeface="Calibri" pitchFamily="34" charset="-122"/>
                <a:cs typeface="Calibri" pitchFamily="34" charset="-120"/>
              </a:rPr>
              <a:t>Disciplined rebalancing bands to harvest volatility and control drift</a:t>
            </a:r>
            <a:endParaRPr lang="en-US" sz="1200" dirty="0"/>
          </a:p>
          <a:p>
            <a:pPr marL="177800" indent="-177800">
              <a:lnSpc>
                <a:spcPct val="115000"/>
              </a:lnSpc>
              <a:spcAft>
                <a:spcPts val="600"/>
              </a:spcAft>
              <a:buSzPct val="100000"/>
              <a:buChar char="●"/>
            </a:pPr>
            <a:r>
              <a:rPr lang="en-US" sz="1200" dirty="0">
                <a:solidFill>
                  <a:srgbClr val="0B1B2B"/>
                </a:solidFill>
                <a:latin typeface="Calibri" pitchFamily="34" charset="0"/>
                <a:ea typeface="Calibri" pitchFamily="34" charset="-122"/>
                <a:cs typeface="Calibri" pitchFamily="34" charset="-120"/>
              </a:rPr>
              <a:t>Income sleeve engineered to service the Pool 3 lending facility</a:t>
            </a:r>
            <a:endParaRPr lang="en-US" sz="1200" dirty="0"/>
          </a:p>
          <a:p>
            <a:pPr marL="177800" indent="-177800">
              <a:lnSpc>
                <a:spcPct val="115000"/>
              </a:lnSpc>
              <a:spcAft>
                <a:spcPts val="600"/>
              </a:spcAft>
              <a:buSzPct val="100000"/>
              <a:buChar char="●"/>
            </a:pPr>
            <a:r>
              <a:rPr lang="en-US" sz="1200" dirty="0">
                <a:solidFill>
                  <a:srgbClr val="0B1B2B"/>
                </a:solidFill>
                <a:latin typeface="Calibri" pitchFamily="34" charset="0"/>
                <a:ea typeface="Calibri" pitchFamily="34" charset="-122"/>
                <a:cs typeface="Calibri" pitchFamily="34" charset="-120"/>
              </a:rPr>
              <a:t>Quarterly performance review against the 7.5% p.a. hurdle and peer benchmarks</a:t>
            </a:r>
            <a:endParaRPr lang="en-US" sz="1200" dirty="0"/>
          </a:p>
        </p:txBody>
      </p:sp>
      <p:sp>
        <p:nvSpPr>
          <p:cNvPr id="10" name="Shape 7"/>
          <p:cNvSpPr/>
          <p:nvPr/>
        </p:nvSpPr>
        <p:spPr>
          <a:xfrm>
            <a:off x="6903720" y="1783080"/>
            <a:ext cx="2240280" cy="1234440"/>
          </a:xfrm>
          <a:prstGeom prst="roundRect">
            <a:avLst>
              <a:gd name="adj" fmla="val 5926"/>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1911096" cy="66751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7.5%</a:t>
            </a:r>
            <a:endParaRPr lang="en-US" sz="2600" dirty="0"/>
          </a:p>
        </p:txBody>
      </p:sp>
      <p:sp>
        <p:nvSpPr>
          <p:cNvPr id="12" name="Text 9"/>
          <p:cNvSpPr txBox="1"/>
          <p:nvPr/>
        </p:nvSpPr>
        <p:spPr>
          <a:xfrm>
            <a:off x="7068312" y="2596896"/>
            <a:ext cx="191109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Target return p.a.</a:t>
            </a:r>
            <a:endParaRPr lang="en-US" sz="1050" dirty="0"/>
          </a:p>
        </p:txBody>
      </p:sp>
      <p:graphicFrame>
        <p:nvGraphicFramePr>
          <p:cNvPr id="13" name="Chart 0" descr=""/>
          <p:cNvGraphicFramePr/>
          <p:nvPr/>
        </p:nvGraphicFramePr>
        <p:xfrm>
          <a:off x="9235440" y="1783080"/>
          <a:ext cx="2468880" cy="233172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txBox="1"/>
          <p:nvPr/>
        </p:nvSpPr>
        <p:spPr>
          <a:xfrm>
            <a:off x="457200" y="5074920"/>
            <a:ext cx="4572000" cy="274320"/>
          </a:xfrm>
          <a:prstGeom prst="rect">
            <a:avLst/>
          </a:prstGeom>
          <a:noFill/>
          <a:ln/>
        </p:spPr>
        <p:txBody>
          <a:bodyPr wrap="square" rtlCol="0" anchor="ctr"/>
          <a:lstStyle/>
          <a:p>
            <a:pPr indent="0" marL="0">
              <a:buNone/>
            </a:pPr>
            <a:r>
              <a:rPr lang="en-US" sz="1300" b="1" dirty="0">
                <a:solidFill>
                  <a:srgbClr val="0B1B2B"/>
                </a:solidFill>
                <a:latin typeface="Cambria" pitchFamily="34" charset="0"/>
                <a:ea typeface="Cambria" pitchFamily="34" charset="-122"/>
                <a:cs typeface="Cambria" pitchFamily="34" charset="-120"/>
              </a:rPr>
              <a:t>Illustrative Asset Mix</a:t>
            </a:r>
            <a:endParaRPr lang="en-US" sz="1300" dirty="0"/>
          </a:p>
        </p:txBody>
      </p:sp>
      <p:graphicFrame>
        <p:nvGraphicFramePr>
          <p:cNvPr id="15" name="Chart 1" descr=""/>
          <p:cNvGraphicFramePr/>
          <p:nvPr/>
        </p:nvGraphicFramePr>
        <p:xfrm>
          <a:off x="457200" y="5367528"/>
          <a:ext cx="11247120" cy="1188720"/>
        </p:xfrm>
        <a:graphic xmlns:a="http://schemas.openxmlformats.org/drawingml/2006/main">
          <a:graphicData uri="http://schemas.openxmlformats.org/drawingml/2006/chart">
            <c:chart xmlns:c="http://schemas.openxmlformats.org/drawingml/2006/chart" r:id="rId3"/>
          </a:graphicData>
        </a:graphic>
      </p:graphicFrame>
      <p:sp>
        <p:nvSpPr>
          <p:cNvPr id="16" name="Text 11"/>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17" name="Text 12"/>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03</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Yacht Acquisition &amp; Running Costs</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A Lending-Led Solution · Solving for the Facility, Not a Sale</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Fund the yacht purchase and its ongoing running costs through a lending facility, preserving Pools 1 and 2 to keep compounding uninterrupted.</a:t>
            </a:r>
            <a:endParaRPr lang="en-US" sz="1300" dirty="0"/>
          </a:p>
        </p:txBody>
      </p:sp>
      <p:sp>
        <p:nvSpPr>
          <p:cNvPr id="9" name="Text 6"/>
          <p:cNvSpPr txBox="1"/>
          <p:nvPr/>
        </p:nvSpPr>
        <p:spPr>
          <a:xfrm>
            <a:off x="457200" y="2788920"/>
            <a:ext cx="6035040" cy="320040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Securities-backed (Lombard) lending facility collateralised against Pools 1–2 and the liquidity reserve</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Solve for a loan-to-value that keeps the facility comfortably serviceable from portfolio yield alone</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Purchase drawn as a term facility; running costs drawn as a revolving line, not funded from capital</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Interest-rate hedge reviewed alongside covenant headroom at each Investment Committee meeting</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No forced sale of core holdings to fund acquisition, crew, maintenance, insurance or berthing</a:t>
            </a:r>
            <a:endParaRPr lang="en-US" sz="1250" dirty="0"/>
          </a:p>
        </p:txBody>
      </p:sp>
      <p:sp>
        <p:nvSpPr>
          <p:cNvPr id="10" name="Shape 7"/>
          <p:cNvSpPr/>
          <p:nvPr/>
        </p:nvSpPr>
        <p:spPr>
          <a:xfrm>
            <a:off x="6903720" y="1783080"/>
            <a:ext cx="2331720" cy="1234440"/>
          </a:xfrm>
          <a:prstGeom prst="roundRect">
            <a:avLst>
              <a:gd name="adj" fmla="val 5926"/>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2002536" cy="66751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~30%</a:t>
            </a:r>
            <a:endParaRPr lang="en-US" sz="2600" dirty="0"/>
          </a:p>
        </p:txBody>
      </p:sp>
      <p:sp>
        <p:nvSpPr>
          <p:cNvPr id="12" name="Text 9"/>
          <p:cNvSpPr txBox="1"/>
          <p:nvPr/>
        </p:nvSpPr>
        <p:spPr>
          <a:xfrm>
            <a:off x="7068312" y="259689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Target loan-to-value</a:t>
            </a:r>
            <a:endParaRPr lang="en-US" sz="1050" dirty="0"/>
          </a:p>
        </p:txBody>
      </p:sp>
      <p:sp>
        <p:nvSpPr>
          <p:cNvPr id="13" name="Shape 10"/>
          <p:cNvSpPr/>
          <p:nvPr/>
        </p:nvSpPr>
        <p:spPr>
          <a:xfrm>
            <a:off x="9372600" y="1783080"/>
            <a:ext cx="2331720" cy="1234440"/>
          </a:xfrm>
          <a:prstGeom prst="roundRect">
            <a:avLst>
              <a:gd name="adj" fmla="val 5926"/>
            </a:avLst>
          </a:prstGeom>
          <a:solidFill>
            <a:srgbClr val="0B1B2B"/>
          </a:solidFill>
          <a:ln/>
          <a:effectLst>
            <a:outerShdw sx="100000" sy="100000" kx="0" ky="0" algn="bl" rotWithShape="0" blurRad="101600" dist="38100" dir="5400000">
              <a:srgbClr val="071320">
                <a:alpha val="25000"/>
              </a:srgbClr>
            </a:outerShdw>
          </a:effectLst>
        </p:spPr>
      </p:sp>
      <p:sp>
        <p:nvSpPr>
          <p:cNvPr id="14" name="Text 11"/>
          <p:cNvSpPr txBox="1"/>
          <p:nvPr/>
        </p:nvSpPr>
        <p:spPr>
          <a:xfrm>
            <a:off x="9537192" y="1892808"/>
            <a:ext cx="2002536" cy="66751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~10%</a:t>
            </a:r>
            <a:endParaRPr lang="en-US" sz="2600" dirty="0"/>
          </a:p>
        </p:txBody>
      </p:sp>
      <p:sp>
        <p:nvSpPr>
          <p:cNvPr id="15" name="Text 12"/>
          <p:cNvSpPr txBox="1"/>
          <p:nvPr/>
        </p:nvSpPr>
        <p:spPr>
          <a:xfrm>
            <a:off x="9537192" y="259689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Running cost, % of vessel value p.a.</a:t>
            </a:r>
            <a:endParaRPr lang="en-US" sz="1050" dirty="0"/>
          </a:p>
        </p:txBody>
      </p:sp>
      <p:sp>
        <p:nvSpPr>
          <p:cNvPr id="16" name="Shape 13"/>
          <p:cNvSpPr/>
          <p:nvPr/>
        </p:nvSpPr>
        <p:spPr>
          <a:xfrm>
            <a:off x="6903720" y="3246120"/>
            <a:ext cx="4800600" cy="2743200"/>
          </a:xfrm>
          <a:prstGeom prst="roundRect">
            <a:avLst>
              <a:gd name="adj" fmla="val 2667"/>
            </a:avLst>
          </a:prstGeom>
          <a:solidFill>
            <a:srgbClr val="FFFFFF"/>
          </a:solidFill>
          <a:ln w="12700">
            <a:solidFill>
              <a:srgbClr val="E3DFD3"/>
            </a:solidFill>
            <a:prstDash val="solid"/>
          </a:ln>
          <a:effectLst>
            <a:outerShdw sx="100000" sy="100000" kx="0" ky="0" algn="bl" rotWithShape="0" blurRad="101600" dist="38100" dir="5400000">
              <a:srgbClr val="071320">
                <a:alpha val="25000"/>
              </a:srgbClr>
            </a:outerShdw>
          </a:effectLst>
        </p:spPr>
      </p:sp>
      <p:sp>
        <p:nvSpPr>
          <p:cNvPr id="17" name="Text 14"/>
          <p:cNvSpPr txBox="1"/>
          <p:nvPr/>
        </p:nvSpPr>
        <p:spPr>
          <a:xfrm>
            <a:off x="7132320" y="3429000"/>
            <a:ext cx="4343400" cy="274320"/>
          </a:xfrm>
          <a:prstGeom prst="rect">
            <a:avLst/>
          </a:prstGeom>
          <a:noFill/>
          <a:ln/>
        </p:spPr>
        <p:txBody>
          <a:bodyPr wrap="square" rtlCol="0" anchor="ctr"/>
          <a:lstStyle/>
          <a:p>
            <a:pPr indent="0" marL="0">
              <a:buNone/>
            </a:pPr>
            <a:r>
              <a:rPr lang="en-US" sz="1250" b="1" dirty="0">
                <a:solidFill>
                  <a:srgbClr val="0B1B2B"/>
                </a:solidFill>
                <a:latin typeface="Cambria" pitchFamily="34" charset="0"/>
                <a:ea typeface="Cambria" pitchFamily="34" charset="-122"/>
                <a:cs typeface="Cambria" pitchFamily="34" charset="-120"/>
              </a:rPr>
              <a:t>How the facility is structured</a:t>
            </a:r>
            <a:endParaRPr lang="en-US" sz="1250" dirty="0"/>
          </a:p>
        </p:txBody>
      </p:sp>
      <p:sp>
        <p:nvSpPr>
          <p:cNvPr id="18" name="Shape 15"/>
          <p:cNvSpPr/>
          <p:nvPr/>
        </p:nvSpPr>
        <p:spPr>
          <a:xfrm>
            <a:off x="7132320" y="3931920"/>
            <a:ext cx="1325880" cy="1005840"/>
          </a:xfrm>
          <a:prstGeom prst="roundRect">
            <a:avLst>
              <a:gd name="adj" fmla="val 6364"/>
            </a:avLst>
          </a:prstGeom>
          <a:solidFill>
            <a:srgbClr val="0B1B2B"/>
          </a:solidFill>
          <a:ln/>
        </p:spPr>
      </p:sp>
      <p:sp>
        <p:nvSpPr>
          <p:cNvPr id="19" name="Text 16"/>
          <p:cNvSpPr txBox="1"/>
          <p:nvPr/>
        </p:nvSpPr>
        <p:spPr>
          <a:xfrm>
            <a:off x="7187184" y="4023360"/>
            <a:ext cx="1216152" cy="292608"/>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Collateral</a:t>
            </a:r>
            <a:endParaRPr lang="en-US" sz="1050" dirty="0"/>
          </a:p>
        </p:txBody>
      </p:sp>
      <p:sp>
        <p:nvSpPr>
          <p:cNvPr id="20" name="Text 17"/>
          <p:cNvSpPr txBox="1"/>
          <p:nvPr/>
        </p:nvSpPr>
        <p:spPr>
          <a:xfrm>
            <a:off x="7187184" y="4315968"/>
            <a:ext cx="1216152" cy="548640"/>
          </a:xfrm>
          <a:prstGeom prst="rect">
            <a:avLst/>
          </a:prstGeom>
          <a:noFill/>
          <a:ln/>
        </p:spPr>
        <p:txBody>
          <a:bodyPr wrap="square" rtlCol="0" anchor="ctr"/>
          <a:lstStyle/>
          <a:p>
            <a:pPr algn="ctr" indent="0" marL="0">
              <a:lnSpc>
                <a:spcPct val="105000"/>
              </a:lnSpc>
              <a:buNone/>
            </a:pPr>
            <a:r>
              <a:rPr lang="en-US" sz="880" dirty="0">
                <a:solidFill>
                  <a:srgbClr val="F6F3EC"/>
                </a:solidFill>
                <a:latin typeface="Calibri" pitchFamily="34" charset="0"/>
                <a:ea typeface="Calibri" pitchFamily="34" charset="-122"/>
                <a:cs typeface="Calibri" pitchFamily="34" charset="-120"/>
              </a:rPr>
              <a:t>Pools 1–2 +</a:t>
            </a:r>
            <a:endParaRPr lang="en-US" sz="880" dirty="0"/>
          </a:p>
          <a:p>
            <a:pPr algn="ctr" indent="0" marL="0">
              <a:lnSpc>
                <a:spcPct val="105000"/>
              </a:lnSpc>
              <a:buNone/>
            </a:pPr>
            <a:r>
              <a:rPr lang="en-US" sz="880" dirty="0">
                <a:solidFill>
                  <a:srgbClr val="F6F3EC"/>
                </a:solidFill>
                <a:latin typeface="Calibri" pitchFamily="34" charset="0"/>
                <a:ea typeface="Calibri" pitchFamily="34" charset="-122"/>
                <a:cs typeface="Calibri" pitchFamily="34" charset="-120"/>
              </a:rPr>
              <a:t>liquidity reserve</a:t>
            </a:r>
            <a:endParaRPr lang="en-US" sz="880" dirty="0"/>
          </a:p>
        </p:txBody>
      </p:sp>
      <p:sp>
        <p:nvSpPr>
          <p:cNvPr id="21" name="Shape 18"/>
          <p:cNvSpPr/>
          <p:nvPr/>
        </p:nvSpPr>
        <p:spPr>
          <a:xfrm>
            <a:off x="8458200" y="4434840"/>
            <a:ext cx="182880" cy="0"/>
          </a:xfrm>
          <a:prstGeom prst="line">
            <a:avLst/>
          </a:prstGeom>
          <a:noFill/>
          <a:ln w="22225">
            <a:solidFill>
              <a:srgbClr val="C6A15B"/>
            </a:solidFill>
            <a:prstDash val="solid"/>
            <a:tailEnd type="triangle"/>
          </a:ln>
        </p:spPr>
      </p:sp>
      <p:sp>
        <p:nvSpPr>
          <p:cNvPr id="22" name="Shape 19"/>
          <p:cNvSpPr/>
          <p:nvPr/>
        </p:nvSpPr>
        <p:spPr>
          <a:xfrm>
            <a:off x="8641080" y="3931920"/>
            <a:ext cx="1325880" cy="1005840"/>
          </a:xfrm>
          <a:prstGeom prst="roundRect">
            <a:avLst>
              <a:gd name="adj" fmla="val 6364"/>
            </a:avLst>
          </a:prstGeom>
          <a:solidFill>
            <a:srgbClr val="C6A15B"/>
          </a:solidFill>
          <a:ln/>
        </p:spPr>
      </p:sp>
      <p:sp>
        <p:nvSpPr>
          <p:cNvPr id="23" name="Text 20"/>
          <p:cNvSpPr txBox="1"/>
          <p:nvPr/>
        </p:nvSpPr>
        <p:spPr>
          <a:xfrm>
            <a:off x="8695944" y="4023360"/>
            <a:ext cx="1216152" cy="292608"/>
          </a:xfrm>
          <a:prstGeom prst="rect">
            <a:avLst/>
          </a:prstGeom>
          <a:noFill/>
          <a:ln/>
        </p:spPr>
        <p:txBody>
          <a:bodyPr wrap="square" rtlCol="0" anchor="ctr"/>
          <a:lstStyle/>
          <a:p>
            <a:pPr algn="ctr" indent="0" marL="0">
              <a:buNone/>
            </a:pPr>
            <a:r>
              <a:rPr lang="en-US" sz="1050" b="1" dirty="0">
                <a:solidFill>
                  <a:srgbClr val="0B1B2B"/>
                </a:solidFill>
                <a:latin typeface="Calibri" pitchFamily="34" charset="0"/>
                <a:ea typeface="Calibri" pitchFamily="34" charset="-122"/>
                <a:cs typeface="Calibri" pitchFamily="34" charset="-120"/>
              </a:rPr>
              <a:t>Lending Facility</a:t>
            </a:r>
            <a:endParaRPr lang="en-US" sz="1050" dirty="0"/>
          </a:p>
        </p:txBody>
      </p:sp>
      <p:sp>
        <p:nvSpPr>
          <p:cNvPr id="24" name="Text 21"/>
          <p:cNvSpPr txBox="1"/>
          <p:nvPr/>
        </p:nvSpPr>
        <p:spPr>
          <a:xfrm>
            <a:off x="8695944" y="4315968"/>
            <a:ext cx="1216152" cy="548640"/>
          </a:xfrm>
          <a:prstGeom prst="rect">
            <a:avLst/>
          </a:prstGeom>
          <a:noFill/>
          <a:ln/>
        </p:spPr>
        <p:txBody>
          <a:bodyPr wrap="square" rtlCol="0" anchor="ctr"/>
          <a:lstStyle/>
          <a:p>
            <a:pPr algn="ctr" indent="0" marL="0">
              <a:lnSpc>
                <a:spcPct val="105000"/>
              </a:lnSpc>
              <a:buNone/>
            </a:pPr>
            <a:r>
              <a:rPr lang="en-US" sz="880" dirty="0">
                <a:solidFill>
                  <a:srgbClr val="0B1B2B"/>
                </a:solidFill>
                <a:latin typeface="Calibri" pitchFamily="34" charset="0"/>
                <a:ea typeface="Calibri" pitchFamily="34" charset="-122"/>
                <a:cs typeface="Calibri" pitchFamily="34" charset="-120"/>
              </a:rPr>
              <a:t>~30% LTV,</a:t>
            </a:r>
            <a:endParaRPr lang="en-US" sz="880" dirty="0"/>
          </a:p>
          <a:p>
            <a:pPr algn="ctr" indent="0" marL="0">
              <a:lnSpc>
                <a:spcPct val="105000"/>
              </a:lnSpc>
              <a:buNone/>
            </a:pPr>
            <a:r>
              <a:rPr lang="en-US" sz="880" dirty="0">
                <a:solidFill>
                  <a:srgbClr val="0B1B2B"/>
                </a:solidFill>
                <a:latin typeface="Calibri" pitchFamily="34" charset="0"/>
                <a:ea typeface="Calibri" pitchFamily="34" charset="-122"/>
                <a:cs typeface="Calibri" pitchFamily="34" charset="-120"/>
              </a:rPr>
              <a:t>yield-serviced</a:t>
            </a:r>
            <a:endParaRPr lang="en-US" sz="880" dirty="0"/>
          </a:p>
        </p:txBody>
      </p:sp>
      <p:sp>
        <p:nvSpPr>
          <p:cNvPr id="25" name="Shape 22"/>
          <p:cNvSpPr/>
          <p:nvPr/>
        </p:nvSpPr>
        <p:spPr>
          <a:xfrm>
            <a:off x="9966960" y="4434840"/>
            <a:ext cx="182880" cy="0"/>
          </a:xfrm>
          <a:prstGeom prst="line">
            <a:avLst/>
          </a:prstGeom>
          <a:noFill/>
          <a:ln w="22225">
            <a:solidFill>
              <a:srgbClr val="C6A15B"/>
            </a:solidFill>
            <a:prstDash val="solid"/>
            <a:tailEnd type="triangle"/>
          </a:ln>
        </p:spPr>
      </p:sp>
      <p:sp>
        <p:nvSpPr>
          <p:cNvPr id="26" name="Shape 23"/>
          <p:cNvSpPr/>
          <p:nvPr/>
        </p:nvSpPr>
        <p:spPr>
          <a:xfrm>
            <a:off x="10149840" y="3931920"/>
            <a:ext cx="1325880" cy="1005840"/>
          </a:xfrm>
          <a:prstGeom prst="roundRect">
            <a:avLst>
              <a:gd name="adj" fmla="val 6364"/>
            </a:avLst>
          </a:prstGeom>
          <a:solidFill>
            <a:srgbClr val="0B1B2B"/>
          </a:solidFill>
          <a:ln/>
        </p:spPr>
      </p:sp>
      <p:sp>
        <p:nvSpPr>
          <p:cNvPr id="27" name="Text 24"/>
          <p:cNvSpPr txBox="1"/>
          <p:nvPr/>
        </p:nvSpPr>
        <p:spPr>
          <a:xfrm>
            <a:off x="10204704" y="4023360"/>
            <a:ext cx="1216152" cy="292608"/>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Yacht</a:t>
            </a:r>
            <a:endParaRPr lang="en-US" sz="1050" dirty="0"/>
          </a:p>
        </p:txBody>
      </p:sp>
      <p:sp>
        <p:nvSpPr>
          <p:cNvPr id="28" name="Text 25"/>
          <p:cNvSpPr txBox="1"/>
          <p:nvPr/>
        </p:nvSpPr>
        <p:spPr>
          <a:xfrm>
            <a:off x="10204704" y="4315968"/>
            <a:ext cx="1216152" cy="548640"/>
          </a:xfrm>
          <a:prstGeom prst="rect">
            <a:avLst/>
          </a:prstGeom>
          <a:noFill/>
          <a:ln/>
        </p:spPr>
        <p:txBody>
          <a:bodyPr wrap="square" rtlCol="0" anchor="ctr"/>
          <a:lstStyle/>
          <a:p>
            <a:pPr algn="ctr" indent="0" marL="0">
              <a:lnSpc>
                <a:spcPct val="105000"/>
              </a:lnSpc>
              <a:buNone/>
            </a:pPr>
            <a:r>
              <a:rPr lang="en-US" sz="880" dirty="0">
                <a:solidFill>
                  <a:srgbClr val="F6F3EC"/>
                </a:solidFill>
                <a:latin typeface="Calibri" pitchFamily="34" charset="0"/>
                <a:ea typeface="Calibri" pitchFamily="34" charset="-122"/>
                <a:cs typeface="Calibri" pitchFamily="34" charset="-120"/>
              </a:rPr>
              <a:t>Purchase +</a:t>
            </a:r>
            <a:endParaRPr lang="en-US" sz="880" dirty="0"/>
          </a:p>
          <a:p>
            <a:pPr algn="ctr" indent="0" marL="0">
              <a:lnSpc>
                <a:spcPct val="105000"/>
              </a:lnSpc>
              <a:buNone/>
            </a:pPr>
            <a:r>
              <a:rPr lang="en-US" sz="880" dirty="0">
                <a:solidFill>
                  <a:srgbClr val="F6F3EC"/>
                </a:solidFill>
                <a:latin typeface="Calibri" pitchFamily="34" charset="0"/>
                <a:ea typeface="Calibri" pitchFamily="34" charset="-122"/>
                <a:cs typeface="Calibri" pitchFamily="34" charset="-120"/>
              </a:rPr>
              <a:t>running costs</a:t>
            </a:r>
            <a:endParaRPr lang="en-US" sz="880" dirty="0"/>
          </a:p>
        </p:txBody>
      </p:sp>
      <p:sp>
        <p:nvSpPr>
          <p:cNvPr id="29" name="Text 26"/>
          <p:cNvSpPr txBox="1"/>
          <p:nvPr/>
        </p:nvSpPr>
        <p:spPr>
          <a:xfrm>
            <a:off x="7132320" y="5193792"/>
            <a:ext cx="4343400" cy="457200"/>
          </a:xfrm>
          <a:prstGeom prst="rect">
            <a:avLst/>
          </a:prstGeom>
          <a:noFill/>
          <a:ln/>
        </p:spPr>
        <p:txBody>
          <a:bodyPr wrap="square" rtlCol="0" anchor="ctr"/>
          <a:lstStyle/>
          <a:p>
            <a:pPr algn="ctr" indent="0" marL="0">
              <a:lnSpc>
                <a:spcPct val="115000"/>
              </a:lnSpc>
              <a:buNone/>
            </a:pPr>
            <a:r>
              <a:rPr lang="en-US" sz="1000" i="1" dirty="0">
                <a:solidFill>
                  <a:srgbClr val="8C93A0"/>
                </a:solidFill>
                <a:latin typeface="Calibri" pitchFamily="34" charset="0"/>
                <a:ea typeface="Calibri" pitchFamily="34" charset="-122"/>
                <a:cs typeface="Calibri" pitchFamily="34" charset="-120"/>
              </a:rPr>
              <a:t>Interest and running costs serviced from Pool 2 income — core capital is never drawn down.</a:t>
            </a:r>
            <a:endParaRPr lang="en-US" sz="1000" dirty="0"/>
          </a:p>
        </p:txBody>
      </p:sp>
      <p:sp>
        <p:nvSpPr>
          <p:cNvPr id="30" name="Text 27"/>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1" name="Text 28"/>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04</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Opportunistic &amp; Private Markets</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Proprietary Deal Flow · Private Equity, Venture &amp; Direct Co-Investment</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Access differentiated, less-correlated returns through disciplined, network-sourced private market deployment.</a:t>
            </a:r>
            <a:endParaRPr lang="en-US" sz="1300" dirty="0"/>
          </a:p>
        </p:txBody>
      </p:sp>
      <p:sp>
        <p:nvSpPr>
          <p:cNvPr id="9" name="Text 6"/>
          <p:cNvSpPr txBox="1"/>
          <p:nvPr/>
        </p:nvSpPr>
        <p:spPr>
          <a:xfrm>
            <a:off x="457200" y="2788920"/>
            <a:ext cx="6035040" cy="329184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Proprietary deal flow sourced through the family's network, co-investors and sponsor relationships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Target net IRR of 15–20%+, underwritten with the same rigour as a control investment</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Illiquidity budget hard-capped at 20% of NAV, paced across vintages to smooth capital calls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Selective — every deal is referred back to the Investment Committee before commitment</a:t>
            </a:r>
            <a:endParaRPr lang="en-US" sz="1250" dirty="0"/>
          </a:p>
        </p:txBody>
      </p:sp>
      <p:sp>
        <p:nvSpPr>
          <p:cNvPr id="10" name="Shape 7"/>
          <p:cNvSpPr/>
          <p:nvPr/>
        </p:nvSpPr>
        <p:spPr>
          <a:xfrm>
            <a:off x="6903720" y="178308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11" name="Shape 8"/>
          <p:cNvSpPr/>
          <p:nvPr/>
        </p:nvSpPr>
        <p:spPr>
          <a:xfrm>
            <a:off x="7086600" y="1965960"/>
            <a:ext cx="420624" cy="420624"/>
          </a:xfrm>
          <a:prstGeom prst="ellipse">
            <a:avLst/>
          </a:prstGeom>
          <a:solidFill>
            <a:srgbClr val="C6A15B"/>
          </a:solidFill>
          <a:ln/>
        </p:spPr>
      </p:sp>
      <p:pic>
        <p:nvPicPr>
          <p:cNvPr id="12" name="Image 1" descr="preencoded.png">    </p:cNvPr>
          <p:cNvPicPr>
            <a:picLocks noChangeAspect="1"/>
          </p:cNvPicPr>
          <p:nvPr/>
        </p:nvPicPr>
        <p:blipFill>
          <a:blip r:embed="rId2"/>
          <a:stretch>
            <a:fillRect/>
          </a:stretch>
        </p:blipFill>
        <p:spPr>
          <a:xfrm>
            <a:off x="7141281" y="2020641"/>
            <a:ext cx="311262" cy="311262"/>
          </a:xfrm>
          <a:prstGeom prst="rect">
            <a:avLst/>
          </a:prstGeom>
        </p:spPr>
      </p:pic>
      <p:sp>
        <p:nvSpPr>
          <p:cNvPr id="13" name="Text 9"/>
          <p:cNvSpPr txBox="1"/>
          <p:nvPr/>
        </p:nvSpPr>
        <p:spPr>
          <a:xfrm>
            <a:off x="7086600" y="246888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Private Equity</a:t>
            </a:r>
            <a:endParaRPr lang="en-US" sz="1200" dirty="0"/>
          </a:p>
        </p:txBody>
      </p:sp>
      <p:sp>
        <p:nvSpPr>
          <p:cNvPr id="14" name="Text 10"/>
          <p:cNvSpPr txBox="1"/>
          <p:nvPr/>
        </p:nvSpPr>
        <p:spPr>
          <a:xfrm>
            <a:off x="7086600" y="275234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Growth &amp; buyout co-investment alongside trusted sponsors</a:t>
            </a:r>
            <a:endParaRPr lang="en-US" sz="950" dirty="0"/>
          </a:p>
        </p:txBody>
      </p:sp>
      <p:sp>
        <p:nvSpPr>
          <p:cNvPr id="15" name="Shape 11"/>
          <p:cNvSpPr/>
          <p:nvPr/>
        </p:nvSpPr>
        <p:spPr>
          <a:xfrm>
            <a:off x="9372600" y="178308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16" name="Shape 12"/>
          <p:cNvSpPr/>
          <p:nvPr/>
        </p:nvSpPr>
        <p:spPr>
          <a:xfrm>
            <a:off x="9555480" y="1965960"/>
            <a:ext cx="420624" cy="420624"/>
          </a:xfrm>
          <a:prstGeom prst="ellipse">
            <a:avLst/>
          </a:prstGeom>
          <a:solidFill>
            <a:srgbClr val="C6A15B"/>
          </a:solidFill>
          <a:ln/>
        </p:spPr>
      </p:sp>
      <p:pic>
        <p:nvPicPr>
          <p:cNvPr id="17" name="Image 2" descr="preencoded.png">    </p:cNvPr>
          <p:cNvPicPr>
            <a:picLocks noChangeAspect="1"/>
          </p:cNvPicPr>
          <p:nvPr/>
        </p:nvPicPr>
        <p:blipFill>
          <a:blip r:embed="rId3"/>
          <a:stretch>
            <a:fillRect/>
          </a:stretch>
        </p:blipFill>
        <p:spPr>
          <a:xfrm>
            <a:off x="9610161" y="2020641"/>
            <a:ext cx="311262" cy="311262"/>
          </a:xfrm>
          <a:prstGeom prst="rect">
            <a:avLst/>
          </a:prstGeom>
        </p:spPr>
      </p:pic>
      <p:sp>
        <p:nvSpPr>
          <p:cNvPr id="18" name="Text 13"/>
          <p:cNvSpPr txBox="1"/>
          <p:nvPr/>
        </p:nvSpPr>
        <p:spPr>
          <a:xfrm>
            <a:off x="9555480" y="246888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Venture Co-Investment</a:t>
            </a:r>
            <a:endParaRPr lang="en-US" sz="1200" dirty="0"/>
          </a:p>
        </p:txBody>
      </p:sp>
      <p:sp>
        <p:nvSpPr>
          <p:cNvPr id="19" name="Text 14"/>
          <p:cNvSpPr txBox="1"/>
          <p:nvPr/>
        </p:nvSpPr>
        <p:spPr>
          <a:xfrm>
            <a:off x="9555480" y="275234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Direct stakes alongside lead venture investors</a:t>
            </a:r>
            <a:endParaRPr lang="en-US" sz="950" dirty="0"/>
          </a:p>
        </p:txBody>
      </p:sp>
      <p:sp>
        <p:nvSpPr>
          <p:cNvPr id="20" name="Shape 15"/>
          <p:cNvSpPr/>
          <p:nvPr/>
        </p:nvSpPr>
        <p:spPr>
          <a:xfrm>
            <a:off x="6903720" y="352044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21" name="Shape 16"/>
          <p:cNvSpPr/>
          <p:nvPr/>
        </p:nvSpPr>
        <p:spPr>
          <a:xfrm>
            <a:off x="7086600" y="3703320"/>
            <a:ext cx="420624" cy="420624"/>
          </a:xfrm>
          <a:prstGeom prst="ellipse">
            <a:avLst/>
          </a:prstGeom>
          <a:solidFill>
            <a:srgbClr val="C6A15B"/>
          </a:solidFill>
          <a:ln/>
        </p:spPr>
      </p:sp>
      <p:pic>
        <p:nvPicPr>
          <p:cNvPr id="22" name="Image 3" descr="preencoded.png">    </p:cNvPr>
          <p:cNvPicPr>
            <a:picLocks noChangeAspect="1"/>
          </p:cNvPicPr>
          <p:nvPr/>
        </p:nvPicPr>
        <p:blipFill>
          <a:blip r:embed="rId4"/>
          <a:stretch>
            <a:fillRect/>
          </a:stretch>
        </p:blipFill>
        <p:spPr>
          <a:xfrm>
            <a:off x="7141281" y="3758001"/>
            <a:ext cx="311262" cy="311262"/>
          </a:xfrm>
          <a:prstGeom prst="rect">
            <a:avLst/>
          </a:prstGeom>
        </p:spPr>
      </p:pic>
      <p:sp>
        <p:nvSpPr>
          <p:cNvPr id="23" name="Text 17"/>
          <p:cNvSpPr txBox="1"/>
          <p:nvPr/>
        </p:nvSpPr>
        <p:spPr>
          <a:xfrm>
            <a:off x="7086600" y="420624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Direct / Club Deals</a:t>
            </a:r>
            <a:endParaRPr lang="en-US" sz="1200" dirty="0"/>
          </a:p>
        </p:txBody>
      </p:sp>
      <p:sp>
        <p:nvSpPr>
          <p:cNvPr id="24" name="Text 18"/>
          <p:cNvSpPr txBox="1"/>
          <p:nvPr/>
        </p:nvSpPr>
        <p:spPr>
          <a:xfrm>
            <a:off x="7086600" y="448970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Bilateral transactions sourced from the family network</a:t>
            </a:r>
            <a:endParaRPr lang="en-US" sz="950" dirty="0"/>
          </a:p>
        </p:txBody>
      </p:sp>
      <p:sp>
        <p:nvSpPr>
          <p:cNvPr id="25" name="Shape 19"/>
          <p:cNvSpPr/>
          <p:nvPr/>
        </p:nvSpPr>
        <p:spPr>
          <a:xfrm>
            <a:off x="9372600" y="352044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26" name="Shape 20"/>
          <p:cNvSpPr/>
          <p:nvPr/>
        </p:nvSpPr>
        <p:spPr>
          <a:xfrm>
            <a:off x="9555480" y="3703320"/>
            <a:ext cx="420624" cy="420624"/>
          </a:xfrm>
          <a:prstGeom prst="ellipse">
            <a:avLst/>
          </a:prstGeom>
          <a:solidFill>
            <a:srgbClr val="C6A15B"/>
          </a:solidFill>
          <a:ln/>
        </p:spPr>
      </p:sp>
      <p:pic>
        <p:nvPicPr>
          <p:cNvPr id="27" name="Image 4" descr="preencoded.png">    </p:cNvPr>
          <p:cNvPicPr>
            <a:picLocks noChangeAspect="1"/>
          </p:cNvPicPr>
          <p:nvPr/>
        </p:nvPicPr>
        <p:blipFill>
          <a:blip r:embed="rId5"/>
          <a:stretch>
            <a:fillRect/>
          </a:stretch>
        </p:blipFill>
        <p:spPr>
          <a:xfrm>
            <a:off x="9610161" y="3758001"/>
            <a:ext cx="311262" cy="311262"/>
          </a:xfrm>
          <a:prstGeom prst="rect">
            <a:avLst/>
          </a:prstGeom>
        </p:spPr>
      </p:pic>
      <p:sp>
        <p:nvSpPr>
          <p:cNvPr id="28" name="Text 21"/>
          <p:cNvSpPr txBox="1"/>
          <p:nvPr/>
        </p:nvSpPr>
        <p:spPr>
          <a:xfrm>
            <a:off x="9555480" y="420624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Opportunistic Real Assets</a:t>
            </a:r>
            <a:endParaRPr lang="en-US" sz="1200" dirty="0"/>
          </a:p>
        </p:txBody>
      </p:sp>
      <p:sp>
        <p:nvSpPr>
          <p:cNvPr id="29" name="Text 22"/>
          <p:cNvSpPr txBox="1"/>
          <p:nvPr/>
        </p:nvSpPr>
        <p:spPr>
          <a:xfrm>
            <a:off x="9555480" y="448970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Special-situation and value-add real asset positions</a:t>
            </a:r>
            <a:endParaRPr lang="en-US" sz="950" dirty="0"/>
          </a:p>
        </p:txBody>
      </p:sp>
      <p:sp>
        <p:nvSpPr>
          <p:cNvPr id="30" name="Text 23"/>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1" name="Text 24"/>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05</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Philanthropy</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Funding the Next Generation of AI-Driven Medicine Research</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Deploy philanthropic capital to accelerate AI-driven medical research, building a multi-generational family mission alongside the portfolio.</a:t>
            </a:r>
            <a:endParaRPr lang="en-US" sz="1300" dirty="0"/>
          </a:p>
        </p:txBody>
      </p:sp>
      <p:sp>
        <p:nvSpPr>
          <p:cNvPr id="9" name="Text 6"/>
          <p:cNvSpPr txBox="1"/>
          <p:nvPr/>
        </p:nvSpPr>
        <p:spPr>
          <a:xfrm>
            <a:off x="457200" y="2788920"/>
            <a:ext cx="6035040" cy="329184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Structured through a Private Ancillary Fund for tax-effective, perpetual giving</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Multi-year grants to AI-medicine labs — drug discovery, diagnostics and precision medicine</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Selective venture philanthropy co-funding alongside specialist medical-research investors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Impact tracked against research milestones, not just dollars deployed</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Next-generation family members sit on the grant-making committee — purpose as succession</a:t>
            </a:r>
            <a:endParaRPr lang="en-US" sz="1250" dirty="0"/>
          </a:p>
        </p:txBody>
      </p:sp>
      <p:sp>
        <p:nvSpPr>
          <p:cNvPr id="10" name="Text 7"/>
          <p:cNvSpPr txBox="1"/>
          <p:nvPr/>
        </p:nvSpPr>
        <p:spPr>
          <a:xfrm>
            <a:off x="6903720" y="1783080"/>
            <a:ext cx="4800600" cy="274320"/>
          </a:xfrm>
          <a:prstGeom prst="rect">
            <a:avLst/>
          </a:prstGeom>
          <a:noFill/>
          <a:ln/>
        </p:spPr>
        <p:txBody>
          <a:bodyPr wrap="square" rtlCol="0" anchor="ctr"/>
          <a:lstStyle/>
          <a:p>
            <a:pPr indent="0" marL="0">
              <a:buNone/>
            </a:pPr>
            <a:r>
              <a:rPr lang="en-US" sz="1300" b="1" dirty="0">
                <a:solidFill>
                  <a:srgbClr val="0B1B2B"/>
                </a:solidFill>
                <a:latin typeface="Cambria" pitchFamily="34" charset="0"/>
                <a:ea typeface="Cambria" pitchFamily="34" charset="-122"/>
                <a:cs typeface="Cambria" pitchFamily="34" charset="-120"/>
              </a:rPr>
              <a:t>Illustrative Deployment</a:t>
            </a:r>
            <a:endParaRPr lang="en-US" sz="1300" dirty="0"/>
          </a:p>
        </p:txBody>
      </p:sp>
      <p:graphicFrame>
        <p:nvGraphicFramePr>
          <p:cNvPr id="11" name="Chart 0" descr=""/>
          <p:cNvGraphicFramePr/>
          <p:nvPr/>
        </p:nvGraphicFramePr>
        <p:xfrm>
          <a:off x="6903720" y="2103120"/>
          <a:ext cx="2834640" cy="2834640"/>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9921240" y="2313432"/>
            <a:ext cx="146304" cy="146304"/>
          </a:xfrm>
          <a:prstGeom prst="rect">
            <a:avLst/>
          </a:prstGeom>
          <a:solidFill>
            <a:srgbClr val="0B1B2B"/>
          </a:solidFill>
          <a:ln/>
        </p:spPr>
      </p:sp>
      <p:sp>
        <p:nvSpPr>
          <p:cNvPr id="13" name="Text 9"/>
          <p:cNvSpPr txBox="1"/>
          <p:nvPr/>
        </p:nvSpPr>
        <p:spPr>
          <a:xfrm>
            <a:off x="10149840" y="2231136"/>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AI-Medicine Research Grants — 70%</a:t>
            </a:r>
            <a:endParaRPr lang="en-US" sz="950" dirty="0"/>
          </a:p>
        </p:txBody>
      </p:sp>
      <p:sp>
        <p:nvSpPr>
          <p:cNvPr id="14" name="Shape 10"/>
          <p:cNvSpPr/>
          <p:nvPr/>
        </p:nvSpPr>
        <p:spPr>
          <a:xfrm>
            <a:off x="9921240" y="2880360"/>
            <a:ext cx="146304" cy="146304"/>
          </a:xfrm>
          <a:prstGeom prst="rect">
            <a:avLst/>
          </a:prstGeom>
          <a:solidFill>
            <a:srgbClr val="C6A15B"/>
          </a:solidFill>
          <a:ln/>
        </p:spPr>
      </p:sp>
      <p:sp>
        <p:nvSpPr>
          <p:cNvPr id="15" name="Text 11"/>
          <p:cNvSpPr txBox="1"/>
          <p:nvPr/>
        </p:nvSpPr>
        <p:spPr>
          <a:xfrm>
            <a:off x="10149840" y="2798064"/>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Venture Philanthropy — 20%</a:t>
            </a:r>
            <a:endParaRPr lang="en-US" sz="950" dirty="0"/>
          </a:p>
        </p:txBody>
      </p:sp>
      <p:sp>
        <p:nvSpPr>
          <p:cNvPr id="16" name="Shape 12"/>
          <p:cNvSpPr/>
          <p:nvPr/>
        </p:nvSpPr>
        <p:spPr>
          <a:xfrm>
            <a:off x="9921240" y="3447288"/>
            <a:ext cx="146304" cy="146304"/>
          </a:xfrm>
          <a:prstGeom prst="rect">
            <a:avLst/>
          </a:prstGeom>
          <a:solidFill>
            <a:srgbClr val="8C93A0"/>
          </a:solidFill>
          <a:ln/>
        </p:spPr>
      </p:sp>
      <p:sp>
        <p:nvSpPr>
          <p:cNvPr id="17" name="Text 13"/>
          <p:cNvSpPr txBox="1"/>
          <p:nvPr/>
        </p:nvSpPr>
        <p:spPr>
          <a:xfrm>
            <a:off x="10149840" y="3364992"/>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Operating &amp; Governance — 10%</a:t>
            </a:r>
            <a:endParaRPr lang="en-US" sz="950" dirty="0"/>
          </a:p>
        </p:txBody>
      </p:sp>
      <p:sp>
        <p:nvSpPr>
          <p:cNvPr id="18" name="Shape 14"/>
          <p:cNvSpPr/>
          <p:nvPr/>
        </p:nvSpPr>
        <p:spPr>
          <a:xfrm>
            <a:off x="6903720" y="5257800"/>
            <a:ext cx="4800600" cy="822960"/>
          </a:xfrm>
          <a:prstGeom prst="roundRect">
            <a:avLst>
              <a:gd name="adj" fmla="val 7778"/>
            </a:avLst>
          </a:prstGeom>
          <a:solidFill>
            <a:srgbClr val="FFFFFF"/>
          </a:solidFill>
          <a:ln w="12700">
            <a:solidFill>
              <a:srgbClr val="E3DFD3"/>
            </a:solidFill>
            <a:prstDash val="solid"/>
          </a:ln>
        </p:spPr>
      </p:sp>
      <p:sp>
        <p:nvSpPr>
          <p:cNvPr id="19" name="Text 15"/>
          <p:cNvSpPr txBox="1"/>
          <p:nvPr/>
        </p:nvSpPr>
        <p:spPr>
          <a:xfrm>
            <a:off x="7086600" y="5349240"/>
            <a:ext cx="4434840" cy="640080"/>
          </a:xfrm>
          <a:prstGeom prst="rect">
            <a:avLst/>
          </a:prstGeom>
          <a:noFill/>
          <a:ln/>
        </p:spPr>
        <p:txBody>
          <a:bodyPr wrap="square" rtlCol="0" anchor="ctr"/>
          <a:lstStyle/>
          <a:p>
            <a:pPr indent="0" marL="0">
              <a:lnSpc>
                <a:spcPct val="115000"/>
              </a:lnSpc>
              <a:buNone/>
            </a:pPr>
            <a:r>
              <a:rPr lang="en-US" sz="1000" i="1" dirty="0">
                <a:solidFill>
                  <a:srgbClr val="0B1B2B"/>
                </a:solidFill>
                <a:latin typeface="Calibri" pitchFamily="34" charset="0"/>
                <a:ea typeface="Calibri" pitchFamily="34" charset="-122"/>
                <a:cs typeface="Calibri" pitchFamily="34" charset="-120"/>
              </a:rPr>
              <a:t>Focus area: AI-enabled drug discovery, diagnostics and precision-medicine research institutions.</a:t>
            </a:r>
            <a:endParaRPr lang="en-US" sz="1000" dirty="0"/>
          </a:p>
        </p:txBody>
      </p:sp>
      <p:sp>
        <p:nvSpPr>
          <p:cNvPr id="20" name="Text 1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1" name="Text 1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OVERSIGHT</a:t>
            </a:r>
            <a:endParaRPr lang="en-US" sz="1100" dirty="0"/>
          </a:p>
        </p:txBody>
      </p:sp>
      <p:sp>
        <p:nvSpPr>
          <p:cNvPr id="5" name="Text 2"/>
          <p:cNvSpPr txBox="1"/>
          <p:nvPr/>
        </p:nvSpPr>
        <p:spPr>
          <a:xfrm>
            <a:off x="1207008" y="713232"/>
            <a:ext cx="100584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Governance &amp; Risk Oversight</a:t>
            </a:r>
            <a:endParaRPr lang="en-US" sz="3000" dirty="0"/>
          </a:p>
        </p:txBody>
      </p:sp>
      <p:sp>
        <p:nvSpPr>
          <p:cNvPr id="6" name="Text 3"/>
          <p:cNvSpPr txBox="1"/>
          <p:nvPr/>
        </p:nvSpPr>
        <p:spPr>
          <a:xfrm>
            <a:off x="1207008" y="1243584"/>
            <a:ext cx="10058400" cy="310896"/>
          </a:xfrm>
          <a:prstGeom prst="rect">
            <a:avLst/>
          </a:prstGeom>
          <a:noFill/>
          <a:ln/>
        </p:spPr>
        <p:txBody>
          <a:bodyPr wrap="square" rtlCol="0" anchor="ctr"/>
          <a:lstStyle/>
          <a:p>
            <a:pPr indent="0" marL="0">
              <a:buNone/>
            </a:pPr>
            <a:r>
              <a:rPr lang="en-US" sz="1250" i="1" dirty="0">
                <a:solidFill>
                  <a:srgbClr val="8C93A0"/>
                </a:solidFill>
                <a:latin typeface="Calibri" pitchFamily="34" charset="0"/>
                <a:ea typeface="Calibri" pitchFamily="34" charset="-122"/>
                <a:cs typeface="Calibri" pitchFamily="34" charset="-120"/>
              </a:rPr>
              <a:t>Quarterly Investment Committee meetings; Investment Policy Statement reviewed and re-ratified annually.</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47120" cy="3291840"/>
        </p:xfrm>
        <a:graphic>
          <a:graphicData uri="http://schemas.openxmlformats.org/drawingml/2006/table">
            <a:tbl>
              <a:tblPr/>
              <a:tblGrid>
                <a:gridCol w="3566160"/>
                <a:gridCol w="3657600"/>
                <a:gridCol w="40233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Pool</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Key Risk</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Primary Control</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01 · Capital Growth</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Single-stock concentration</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Hedging protocol + annual IC review</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02 · Stable Yield &amp; Growth</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Market and credit drawdown</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Diversification + rebalancing bands</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03 · Yacht Facility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Loan-to-value and rate risk</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LTV covenant + rate-hedge review</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04 · Opportunistic / Private Markets</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Illiquidity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Hard NAV cap + vintage pacing</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05 · Philanthropy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Mission drift / impact risk</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Grant due diligence + impact reporting</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5440680"/>
            <a:ext cx="11247120" cy="822960"/>
          </a:xfrm>
          <a:prstGeom prst="roundRect">
            <a:avLst>
              <a:gd name="adj" fmla="val 7778"/>
            </a:avLst>
          </a:prstGeom>
          <a:solidFill>
            <a:srgbClr val="F6F3EC"/>
          </a:solidFill>
          <a:ln/>
        </p:spPr>
      </p:sp>
      <p:sp>
        <p:nvSpPr>
          <p:cNvPr id="9" name="Text 5"/>
          <p:cNvSpPr txBox="1"/>
          <p:nvPr/>
        </p:nvSpPr>
        <p:spPr>
          <a:xfrm>
            <a:off x="685800" y="5532120"/>
            <a:ext cx="10789920" cy="640080"/>
          </a:xfrm>
          <a:prstGeom prst="rect">
            <a:avLst/>
          </a:prstGeom>
          <a:noFill/>
          <a:ln/>
        </p:spPr>
        <p:txBody>
          <a:bodyPr wrap="square" rtlCol="0" anchor="ctr"/>
          <a:lstStyle/>
          <a:p>
            <a:pPr indent="0" marL="0">
              <a:lnSpc>
                <a:spcPct val="115000"/>
              </a:lnSpc>
              <a:buNone/>
            </a:pPr>
            <a:r>
              <a:rPr lang="en-US" sz="1100" i="1" dirty="0">
                <a:solidFill>
                  <a:srgbClr val="0B1B2B"/>
                </a:solidFill>
                <a:latin typeface="Calibri" pitchFamily="34" charset="0"/>
                <a:ea typeface="Calibri" pitchFamily="34" charset="-122"/>
                <a:cs typeface="Calibri" pitchFamily="34" charset="-120"/>
              </a:rPr>
              <a:t>Investment Committee: family principals, an independent director and the family office CIO. The Committee approves every private-market commitment, hedge structure and grant over threshold.</a:t>
            </a:r>
            <a:endParaRPr lang="en-US" sz="1100" dirty="0"/>
          </a:p>
        </p:txBody>
      </p:sp>
      <p:sp>
        <p:nvSpPr>
          <p:cNvPr id="10" name="Text 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11" name="Text 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IMPLEMENTATION</a:t>
            </a:r>
            <a:endParaRPr lang="en-US" sz="1100" dirty="0"/>
          </a:p>
        </p:txBody>
      </p:sp>
      <p:sp>
        <p:nvSpPr>
          <p:cNvPr id="5" name="Text 2"/>
          <p:cNvSpPr txBox="1"/>
          <p:nvPr/>
        </p:nvSpPr>
        <p:spPr>
          <a:xfrm>
            <a:off x="1207008" y="713232"/>
            <a:ext cx="100584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Roadmap to Full Deployment</a:t>
            </a:r>
            <a:endParaRPr lang="en-US" sz="3000" dirty="0"/>
          </a:p>
        </p:txBody>
      </p:sp>
      <p:sp>
        <p:nvSpPr>
          <p:cNvPr id="6" name="Shape 3"/>
          <p:cNvSpPr/>
          <p:nvPr/>
        </p:nvSpPr>
        <p:spPr>
          <a:xfrm>
            <a:off x="1863090" y="2903220"/>
            <a:ext cx="8435340" cy="0"/>
          </a:xfrm>
          <a:prstGeom prst="line">
            <a:avLst/>
          </a:prstGeom>
          <a:noFill/>
          <a:ln w="19050">
            <a:solidFill>
              <a:srgbClr val="C6A15B"/>
            </a:solidFill>
            <a:prstDash val="solid"/>
          </a:ln>
        </p:spPr>
      </p:sp>
      <p:sp>
        <p:nvSpPr>
          <p:cNvPr id="7" name="Shape 4"/>
          <p:cNvSpPr/>
          <p:nvPr/>
        </p:nvSpPr>
        <p:spPr>
          <a:xfrm>
            <a:off x="1611630" y="2651760"/>
            <a:ext cx="502920" cy="502920"/>
          </a:xfrm>
          <a:prstGeom prst="ellipse">
            <a:avLst/>
          </a:prstGeom>
          <a:solidFill>
            <a:srgbClr val="0B1B2B"/>
          </a:solidFill>
          <a:ln w="25400">
            <a:solidFill>
              <a:srgbClr val="C6A15B"/>
            </a:solidFill>
            <a:prstDash val="solid"/>
          </a:ln>
        </p:spPr>
      </p:sp>
      <p:sp>
        <p:nvSpPr>
          <p:cNvPr id="8" name="Text 5"/>
          <p:cNvSpPr txBox="1"/>
          <p:nvPr/>
        </p:nvSpPr>
        <p:spPr>
          <a:xfrm>
            <a:off x="161163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59436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1</a:t>
            </a:r>
            <a:endParaRPr lang="en-US" sz="1400" dirty="0"/>
          </a:p>
        </p:txBody>
      </p:sp>
      <p:sp>
        <p:nvSpPr>
          <p:cNvPr id="10" name="Text 7"/>
          <p:cNvSpPr txBox="1"/>
          <p:nvPr/>
        </p:nvSpPr>
        <p:spPr>
          <a:xfrm>
            <a:off x="59436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0–3</a:t>
            </a:r>
            <a:endParaRPr lang="en-US" sz="1050" dirty="0"/>
          </a:p>
        </p:txBody>
      </p:sp>
      <p:sp>
        <p:nvSpPr>
          <p:cNvPr id="11" name="Text 8"/>
          <p:cNvSpPr txBox="1"/>
          <p:nvPr/>
        </p:nvSpPr>
        <p:spPr>
          <a:xfrm>
            <a:off x="59436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Finalise Investment Policy Statement; establish trust and governance structure</a:t>
            </a:r>
            <a:endParaRPr lang="en-US" sz="1000" dirty="0"/>
          </a:p>
        </p:txBody>
      </p:sp>
      <p:sp>
        <p:nvSpPr>
          <p:cNvPr id="12" name="Shape 9"/>
          <p:cNvSpPr/>
          <p:nvPr/>
        </p:nvSpPr>
        <p:spPr>
          <a:xfrm>
            <a:off x="4423410" y="2651760"/>
            <a:ext cx="502920" cy="502920"/>
          </a:xfrm>
          <a:prstGeom prst="ellipse">
            <a:avLst/>
          </a:prstGeom>
          <a:solidFill>
            <a:srgbClr val="0B1B2B"/>
          </a:solidFill>
          <a:ln w="25400">
            <a:solidFill>
              <a:srgbClr val="C6A15B"/>
            </a:solidFill>
            <a:prstDash val="solid"/>
          </a:ln>
        </p:spPr>
      </p:sp>
      <p:sp>
        <p:nvSpPr>
          <p:cNvPr id="13" name="Text 10"/>
          <p:cNvSpPr txBox="1"/>
          <p:nvPr/>
        </p:nvSpPr>
        <p:spPr>
          <a:xfrm>
            <a:off x="442341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340614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2</a:t>
            </a:r>
            <a:endParaRPr lang="en-US" sz="1400" dirty="0"/>
          </a:p>
        </p:txBody>
      </p:sp>
      <p:sp>
        <p:nvSpPr>
          <p:cNvPr id="15" name="Text 12"/>
          <p:cNvSpPr txBox="1"/>
          <p:nvPr/>
        </p:nvSpPr>
        <p:spPr>
          <a:xfrm>
            <a:off x="340614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3–6</a:t>
            </a:r>
            <a:endParaRPr lang="en-US" sz="1050" dirty="0"/>
          </a:p>
        </p:txBody>
      </p:sp>
      <p:sp>
        <p:nvSpPr>
          <p:cNvPr id="16" name="Text 13"/>
          <p:cNvSpPr txBox="1"/>
          <p:nvPr/>
        </p:nvSpPr>
        <p:spPr>
          <a:xfrm>
            <a:off x="340614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Execute securities-backed lending facility; complete yacht acquisition</a:t>
            </a:r>
            <a:endParaRPr lang="en-US" sz="1000" dirty="0"/>
          </a:p>
        </p:txBody>
      </p:sp>
      <p:sp>
        <p:nvSpPr>
          <p:cNvPr id="17" name="Shape 14"/>
          <p:cNvSpPr/>
          <p:nvPr/>
        </p:nvSpPr>
        <p:spPr>
          <a:xfrm>
            <a:off x="7235190" y="2651760"/>
            <a:ext cx="502920" cy="502920"/>
          </a:xfrm>
          <a:prstGeom prst="ellipse">
            <a:avLst/>
          </a:prstGeom>
          <a:solidFill>
            <a:srgbClr val="0B1B2B"/>
          </a:solidFill>
          <a:ln w="25400">
            <a:solidFill>
              <a:srgbClr val="C6A15B"/>
            </a:solidFill>
            <a:prstDash val="solid"/>
          </a:ln>
        </p:spPr>
      </p:sp>
      <p:sp>
        <p:nvSpPr>
          <p:cNvPr id="18" name="Text 15"/>
          <p:cNvSpPr txBox="1"/>
          <p:nvPr/>
        </p:nvSpPr>
        <p:spPr>
          <a:xfrm>
            <a:off x="723519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621792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3</a:t>
            </a:r>
            <a:endParaRPr lang="en-US" sz="1400" dirty="0"/>
          </a:p>
        </p:txBody>
      </p:sp>
      <p:sp>
        <p:nvSpPr>
          <p:cNvPr id="20" name="Text 17"/>
          <p:cNvSpPr txBox="1"/>
          <p:nvPr/>
        </p:nvSpPr>
        <p:spPr>
          <a:xfrm>
            <a:off x="621792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6–12</a:t>
            </a:r>
            <a:endParaRPr lang="en-US" sz="1050" dirty="0"/>
          </a:p>
        </p:txBody>
      </p:sp>
      <p:sp>
        <p:nvSpPr>
          <p:cNvPr id="21" name="Text 18"/>
          <p:cNvSpPr txBox="1"/>
          <p:nvPr/>
        </p:nvSpPr>
        <p:spPr>
          <a:xfrm>
            <a:off x="621792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Deploy Pool 4 commitments; establish Private Ancillary Fund and first AI-medicine grants</a:t>
            </a:r>
            <a:endParaRPr lang="en-US" sz="1000" dirty="0"/>
          </a:p>
        </p:txBody>
      </p:sp>
      <p:sp>
        <p:nvSpPr>
          <p:cNvPr id="22" name="Shape 19"/>
          <p:cNvSpPr/>
          <p:nvPr/>
        </p:nvSpPr>
        <p:spPr>
          <a:xfrm>
            <a:off x="10046970" y="2651760"/>
            <a:ext cx="502920" cy="502920"/>
          </a:xfrm>
          <a:prstGeom prst="ellipse">
            <a:avLst/>
          </a:prstGeom>
          <a:solidFill>
            <a:srgbClr val="0B1B2B"/>
          </a:solidFill>
          <a:ln w="25400">
            <a:solidFill>
              <a:srgbClr val="C6A15B"/>
            </a:solidFill>
            <a:prstDash val="solid"/>
          </a:ln>
        </p:spPr>
      </p:sp>
      <p:sp>
        <p:nvSpPr>
          <p:cNvPr id="23" name="Text 20"/>
          <p:cNvSpPr txBox="1"/>
          <p:nvPr/>
        </p:nvSpPr>
        <p:spPr>
          <a:xfrm>
            <a:off x="1004697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902970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4</a:t>
            </a:r>
            <a:endParaRPr lang="en-US" sz="1400" dirty="0"/>
          </a:p>
        </p:txBody>
      </p:sp>
      <p:sp>
        <p:nvSpPr>
          <p:cNvPr id="25" name="Text 22"/>
          <p:cNvSpPr txBox="1"/>
          <p:nvPr/>
        </p:nvSpPr>
        <p:spPr>
          <a:xfrm>
            <a:off x="902970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Ongoing</a:t>
            </a:r>
            <a:endParaRPr lang="en-US" sz="1050" dirty="0"/>
          </a:p>
        </p:txBody>
      </p:sp>
      <p:sp>
        <p:nvSpPr>
          <p:cNvPr id="26" name="Text 23"/>
          <p:cNvSpPr txBox="1"/>
          <p:nvPr/>
        </p:nvSpPr>
        <p:spPr>
          <a:xfrm>
            <a:off x="902970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Quarterly monitoring and rebalancing; annual Investment Policy Statement review</a:t>
            </a:r>
            <a:endParaRPr lang="en-US" sz="1000" dirty="0"/>
          </a:p>
        </p:txBody>
      </p:sp>
      <p:sp>
        <p:nvSpPr>
          <p:cNvPr id="27" name="Text 24"/>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8" name="Text 25"/>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1320"/>
        </a:solidFill>
      </p:bgPr>
    </p:bg>
    <p:spTree>
      <p:nvGrpSpPr>
        <p:cNvPr id="1" name=""/>
        <p:cNvGrpSpPr/>
        <p:nvPr/>
      </p:nvGrpSpPr>
      <p:grpSpPr>
        <a:xfrm>
          <a:off x="0" y="0"/>
          <a:ext cx="0" cy="0"/>
          <a:chOff x="0" y="0"/>
          <a:chExt cx="0" cy="0"/>
        </a:xfrm>
      </p:grpSpPr>
      <p:sp>
        <p:nvSpPr>
          <p:cNvPr id="2" name="Shape 0"/>
          <p:cNvSpPr/>
          <p:nvPr/>
        </p:nvSpPr>
        <p:spPr>
          <a:xfrm>
            <a:off x="-2377440" y="-2011680"/>
            <a:ext cx="5120640" cy="5120640"/>
          </a:xfrm>
          <a:prstGeom prst="ellipse">
            <a:avLst/>
          </a:prstGeom>
          <a:ln w="12700">
            <a:solidFill>
              <a:srgbClr val="C6A15B">
                <a:alpha val="40000"/>
              </a:srgbClr>
            </a:solidFill>
            <a:prstDash val="solid"/>
          </a:ln>
        </p:spPr>
      </p:sp>
      <p:sp>
        <p:nvSpPr>
          <p:cNvPr id="3" name="Shape 1"/>
          <p:cNvSpPr/>
          <p:nvPr/>
        </p:nvSpPr>
        <p:spPr>
          <a:xfrm>
            <a:off x="822960" y="822960"/>
            <a:ext cx="640080" cy="640080"/>
          </a:xfrm>
          <a:prstGeom prst="ellipse">
            <a:avLst/>
          </a:prstGeom>
          <a:solidFill>
            <a:srgbClr val="C6A15B"/>
          </a:solidFill>
          <a:ln/>
        </p:spPr>
      </p:sp>
      <p:pic>
        <p:nvPicPr>
          <p:cNvPr id="4" name="Image 0" descr="preencoded.png">    </p:cNvPr>
          <p:cNvPicPr>
            <a:picLocks noChangeAspect="1"/>
          </p:cNvPicPr>
          <p:nvPr/>
        </p:nvPicPr>
        <p:blipFill>
          <a:blip r:embed="rId1"/>
          <a:stretch>
            <a:fillRect/>
          </a:stretch>
        </p:blipFill>
        <p:spPr>
          <a:xfrm>
            <a:off x="906170" y="906170"/>
            <a:ext cx="473659" cy="473659"/>
          </a:xfrm>
          <a:prstGeom prst="rect">
            <a:avLst/>
          </a:prstGeom>
        </p:spPr>
      </p:pic>
      <p:sp>
        <p:nvSpPr>
          <p:cNvPr id="5" name="Text 2"/>
          <p:cNvSpPr txBox="1"/>
          <p:nvPr/>
        </p:nvSpPr>
        <p:spPr>
          <a:xfrm>
            <a:off x="822960" y="1691640"/>
            <a:ext cx="8229600" cy="5486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Next Steps</a:t>
            </a:r>
            <a:endParaRPr lang="en-US" sz="3400" dirty="0"/>
          </a:p>
        </p:txBody>
      </p:sp>
      <p:sp>
        <p:nvSpPr>
          <p:cNvPr id="6" name="Text 3"/>
          <p:cNvSpPr txBox="1"/>
          <p:nvPr/>
        </p:nvSpPr>
        <p:spPr>
          <a:xfrm>
            <a:off x="868680" y="2514600"/>
            <a:ext cx="8686800" cy="2103120"/>
          </a:xfrm>
          <a:prstGeom prst="rect">
            <a:avLst/>
          </a:prstGeom>
          <a:noFill/>
          <a:ln/>
        </p:spPr>
        <p:txBody>
          <a:bodyPr wrap="square" rtlCol="0" anchor="ctr"/>
          <a:lstStyle/>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Ratify the Investment Policy Statement with the Investment Committee</a:t>
            </a:r>
            <a:endParaRPr lang="en-US" sz="1600" dirty="0"/>
          </a:p>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Instruct legal counsel on trust, lending-facility and Private Ancillary Fund documentation</a:t>
            </a:r>
            <a:endParaRPr lang="en-US" sz="1600" dirty="0"/>
          </a:p>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Begin phased capital deployment across the five pools</a:t>
            </a:r>
            <a:endParaRPr lang="en-US" sz="1600" dirty="0"/>
          </a:p>
        </p:txBody>
      </p:sp>
      <p:sp>
        <p:nvSpPr>
          <p:cNvPr id="7" name="Text 4"/>
          <p:cNvSpPr txBox="1"/>
          <p:nvPr/>
        </p:nvSpPr>
        <p:spPr>
          <a:xfrm>
            <a:off x="822960" y="6126480"/>
            <a:ext cx="5486400" cy="274320"/>
          </a:xfrm>
          <a:prstGeom prst="rect">
            <a:avLst/>
          </a:prstGeom>
          <a:noFill/>
          <a:ln/>
        </p:spPr>
        <p:txBody>
          <a:bodyPr wrap="square" rtlCol="0" anchor="ctr"/>
          <a:lstStyle/>
          <a:p>
            <a:pPr indent="0" marL="0">
              <a:buNone/>
            </a:pPr>
            <a:r>
              <a:rPr lang="en-US" sz="1100" dirty="0">
                <a:solidFill>
                  <a:srgbClr val="C6A15B"/>
                </a:solidFill>
                <a:latin typeface="Calibri" pitchFamily="34" charset="0"/>
                <a:ea typeface="Calibri" pitchFamily="34" charset="-122"/>
                <a:cs typeface="Calibri" pitchFamily="34" charset="-120"/>
              </a:rPr>
              <a:t>Prepared by Private Wealth Advisory · Sydney</a:t>
            </a:r>
            <a:endParaRPr lang="en-US" sz="1100" dirty="0"/>
          </a:p>
        </p:txBody>
      </p:sp>
      <p:sp>
        <p:nvSpPr>
          <p:cNvPr id="8" name="Text 5"/>
          <p:cNvSpPr txBox="1"/>
          <p:nvPr/>
        </p:nvSpPr>
        <p:spPr>
          <a:xfrm>
            <a:off x="6766560" y="6126480"/>
            <a:ext cx="4937760" cy="274320"/>
          </a:xfrm>
          <a:prstGeom prst="rect">
            <a:avLst/>
          </a:prstGeom>
          <a:noFill/>
          <a:ln/>
        </p:spPr>
        <p:txBody>
          <a:bodyPr wrap="square" rtlCol="0" anchor="ctr"/>
          <a:lstStyle/>
          <a:p>
            <a:pPr algn="r" indent="0" marL="0">
              <a:buNone/>
            </a:pPr>
            <a:r>
              <a:rPr lang="en-US" sz="1050" i="1" dirty="0">
                <a:solidFill>
                  <a:srgbClr val="8C93A0"/>
                </a:solidFill>
                <a:latin typeface="Calibri" pitchFamily="34" charset="0"/>
                <a:ea typeface="Calibri" pitchFamily="34" charset="-122"/>
                <a:cs typeface="Calibri" pitchFamily="34" charset="-120"/>
              </a:rPr>
              <a:t>Strictly Private &amp; Confidential</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Family Office Investment Strategy</dc:title>
  <dc:subject>PptxGenJS Presentation</dc:subject>
  <dc:creator>Private Wealth Advisory</dc:creator>
  <cp:lastModifiedBy>Private Wealth Advisory</cp:lastModifiedBy>
  <cp:revision>1</cp:revision>
  <dcterms:created xsi:type="dcterms:W3CDTF">2026-08-26T13:28:36Z</dcterms:created>
  <dcterms:modified xsi:type="dcterms:W3CDTF">2026-08-26T13:28:36Z</dcterms:modified>
</cp:coreProperties>
</file>