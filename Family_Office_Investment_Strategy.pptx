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2F39"/>
              </a:solidFill>
              <a:effectLst/>
            </c:spPr>
          </c:dPt>
          <c:dPt>
            <c:idx val="3"/>
            <c:bubble3D val="0"/>
            <c:spPr>
              <a:solidFill>
                <a:srgbClr val="5C7A73"/>
              </a:solidFill>
              <a:effectLst/>
            </c:spPr>
          </c:dPt>
          <c:dPt>
            <c:idx val="4"/>
            <c:bubble3D val="0"/>
            <c:spPr>
              <a:solidFill>
                <a:srgbClr val="8C93A0"/>
              </a:solidFill>
              <a:effectLst/>
            </c:spPr>
          </c:dPt>
          <c:dLbls>
            <c:dLbl>
              <c:idx val="0"/>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3"/>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4"/>
              <c:numFmt formatCode="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Capital Growth</c:v>
                </c:pt>
                <c:pt idx="1">
                  <c:v>Stable Yield &amp; Growth</c:v>
                </c:pt>
                <c:pt idx="2">
                  <c:v>Opportunistic / Private Markets</c:v>
                </c:pt>
                <c:pt idx="3">
                  <c:v>Philanthropy</c:v>
                </c:pt>
                <c:pt idx="4">
                  <c:v>Liquidity Reserve</c:v>
                </c:pt>
              </c:strCache>
            </c:strRef>
          </c:cat>
          <c:val>
            <c:numRef>
              <c:f>Sheet1!$B$2:$B$6</c:f>
              <c:numCache>
                <c:ptCount val="5"/>
                <c:pt idx="0">
                  <c:v>30</c:v>
                </c:pt>
                <c:pt idx="1">
                  <c:v>35</c:v>
                </c:pt>
                <c:pt idx="2">
                  <c:v>20</c:v>
                </c:pt>
                <c:pt idx="3">
                  <c:v>10</c:v>
                </c:pt>
                <c:pt idx="4">
                  <c:v>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B1B2B"/>
                </a:solidFill>
                <a:latin typeface="Calibri"/>
              </a:defRPr>
            </a:pPr>
            <a:r>
              <a:rPr sz="1100" b="0" i="0" u="none" strike="noStrike">
                <a:solidFill>
                  <a:srgbClr val="0B1B2B"/>
                </a:solidFill>
                <a:latin typeface="Calibri"/>
              </a:rPr>
              <a:t>Return Composition</a:t>
            </a:r>
          </a:p>
        </c:rich>
      </c:tx>
      <c:layout/>
      <c:overlay val="0"/>
    </c:title>
    <c:autoTitleDeleted val="0"/>
    <c:plotArea>
      <c:layout/>
      <c:barChart>
        <c:barDir val="col"/>
        <c:grouping val="stacked"/>
        <c:varyColors val="0"/>
        <c:ser>
          <c:idx val="0"/>
          <c:order val="0"/>
          <c:tx>
            <c:strRef>
              <c:f>Sheet1!$B$1</c:f>
              <c:strCache>
                <c:ptCount val="1"/>
                <c:pt idx="0">
                  <c:v>Income</c:v>
                </c:pt>
              </c:strCache>
            </c:strRef>
          </c:tx>
          <c:spPr>
            <a:solidFill>
              <a:srgbClr val="C6A15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Sheet1!$B$2:$B$2</c:f>
              <c:numCache>
                <c:formatCode>General</c:formatCode>
                <c:ptCount val="1"/>
                <c:pt idx="0">
                  <c:v>4</c:v>
                </c:pt>
              </c:numCache>
            </c:numRef>
          </c:val>
        </c:ser>
        <c:ser>
          <c:idx val="1"/>
          <c:order val="1"/>
          <c:tx>
            <c:strRef>
              <c:f>Sheet1!$C$1</c:f>
              <c:strCache>
                <c:ptCount val="1"/>
                <c:pt idx="0">
                  <c:v>Growth</c:v>
                </c:pt>
              </c:strCache>
            </c:strRef>
          </c:tx>
          <c:spPr>
            <a:solidFill>
              <a:srgbClr val="0B1B2B"/>
            </a:solidFill>
            <a:effectLst/>
          </c:spPr>
          <c:invertIfNegative val="0"/>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Return Build</c:v>
                  </c:pt>
                </c:lvl>
              </c:multiLvlStrCache>
            </c:multiLvlStrRef>
          </c:cat>
          <c:val>
            <c:numRef>
              <c:f>Sheet1!$C$2:$C$2</c:f>
              <c:numCache>
                <c:formatCode>General</c:formatCode>
                <c:ptCount val="1"/>
                <c:pt idx="0">
                  <c:v>3.5</c:v>
                </c:pt>
              </c:numCache>
            </c:numRef>
          </c:val>
        </c:ser>
        <c:dLbls>
          <c:numFmt formatCode="0.0&quot;%&quot;"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B1B2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Global Equities</c:v>
                </c:pt>
              </c:strCache>
            </c:strRef>
          </c:tx>
          <c:spPr>
            <a:solidFill>
              <a:srgbClr val="0B1B2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Sheet1!$B$2:$B$2</c:f>
              <c:numCache>
                <c:formatCode>General</c:formatCode>
                <c:ptCount val="1"/>
                <c:pt idx="0">
                  <c:v>40</c:v>
                </c:pt>
              </c:numCache>
            </c:numRef>
          </c:val>
        </c:ser>
        <c:ser>
          <c:idx val="1"/>
          <c:order val="1"/>
          <c:tx>
            <c:strRef>
              <c:f>Sheet1!$C$1</c:f>
              <c:strCache>
                <c:ptCount val="1"/>
                <c:pt idx="0">
                  <c:v>Fixed Income &amp; Credit</c:v>
                </c:pt>
              </c:strCache>
            </c:strRef>
          </c:tx>
          <c:spPr>
            <a:solidFill>
              <a:srgbClr val="C6A15B"/>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Sheet1!$C$2:$C$2</c:f>
              <c:numCache>
                <c:formatCode>General</c:formatCode>
                <c:ptCount val="1"/>
                <c:pt idx="0">
                  <c:v>35</c:v>
                </c:pt>
              </c:numCache>
            </c:numRef>
          </c:val>
        </c:ser>
        <c:ser>
          <c:idx val="2"/>
          <c:order val="2"/>
          <c:tx>
            <c:strRef>
              <c:f>Sheet1!$D$1</c:f>
              <c:strCache>
                <c:ptCount val="1"/>
                <c:pt idx="0">
                  <c:v>Real Assets</c:v>
                </c:pt>
              </c:strCache>
            </c:strRef>
          </c:tx>
          <c:spPr>
            <a:solidFill>
              <a:srgbClr val="8C2F39"/>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Sheet1!$D$2:$D$2</c:f>
              <c:numCache>
                <c:formatCode>General</c:formatCode>
                <c:ptCount val="1"/>
                <c:pt idx="0">
                  <c:v>10</c:v>
                </c:pt>
              </c:numCache>
            </c:numRef>
          </c:val>
        </c:ser>
        <c:ser>
          <c:idx val="3"/>
          <c:order val="3"/>
          <c:tx>
            <c:strRef>
              <c:f>Sheet1!$E$1</c:f>
              <c:strCache>
                <c:ptCount val="1"/>
                <c:pt idx="0">
                  <c:v>Alternatives</c:v>
                </c:pt>
              </c:strCache>
            </c:strRef>
          </c:tx>
          <c:spPr>
            <a:solidFill>
              <a:srgbClr val="5C7A73"/>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Sheet1!$E$2:$E$2</c:f>
              <c:numCache>
                <c:formatCode>General</c:formatCode>
                <c:ptCount val="1"/>
                <c:pt idx="0">
                  <c:v>10</c:v>
                </c:pt>
              </c:numCache>
            </c:numRef>
          </c:val>
        </c:ser>
        <c:ser>
          <c:idx val="4"/>
          <c:order val="4"/>
          <c:tx>
            <c:strRef>
              <c:f>Sheet1!$F$1</c:f>
              <c:strCache>
                <c:ptCount val="1"/>
                <c:pt idx="0">
                  <c:v>Cash</c:v>
                </c:pt>
              </c:strCache>
            </c:strRef>
          </c:tx>
          <c:spPr>
            <a:solidFill>
              <a:srgbClr val="8C93A0"/>
            </a:solidFill>
            <a:effectLst/>
          </c:spPr>
          <c:invertIfNegative val="0"/>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cat>
            <c:multiLvlStrRef>
              <c:f>Sheet1!$A$2:$A$2</c:f>
              <c:multiLvlStrCache>
                <c:ptCount val="1"/>
                <c:lvl>
                  <c:pt idx="0">
                    <c:v>Mix</c:v>
                  </c:pt>
                </c:lvl>
              </c:multiLvlStrCache>
            </c:multiLvlStrRef>
          </c:cat>
          <c:val>
            <c:numRef>
              <c:f>Sheet1!$F$2:$F$2</c:f>
              <c:numCache>
                <c:formatCode>General</c:formatCode>
                <c:ptCount val="1"/>
                <c:pt idx="0">
                  <c:v>5</c:v>
                </c:pt>
              </c:numCache>
            </c:numRef>
          </c:val>
        </c:ser>
        <c:dLbls>
          <c:numFmt formatCode="0&quot;%&quot;" sourceLinked="0"/>
          <c:txPr>
            <a:bodyPr/>
            <a:lstStyle/>
            <a:p>
              <a:pPr>
                <a:defRPr b="0" i="0" strike="noStrike" sz="95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88888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0B1B2B"/>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Deployment</c:v>
                </c:pt>
              </c:strCache>
            </c:strRef>
          </c:tx>
          <c:spPr>
            <a:solidFill>
              <a:schemeClr val="accent1"/>
            </a:solidFill>
            <a:ln w="9525" cap="flat">
              <a:solidFill>
                <a:srgbClr val="F9F9F9"/>
              </a:solidFill>
              <a:prstDash val="solid"/>
              <a:round/>
            </a:ln>
            <a:effectLst/>
          </c:spPr>
          <c:dPt>
            <c:idx val="0"/>
            <c:bubble3D val="0"/>
            <c:spPr>
              <a:solidFill>
                <a:srgbClr val="0B1B2B"/>
              </a:solidFill>
              <a:effectLst/>
            </c:spPr>
          </c:dPt>
          <c:dPt>
            <c:idx val="1"/>
            <c:bubble3D val="0"/>
            <c:spPr>
              <a:solidFill>
                <a:srgbClr val="C6A15B"/>
              </a:solidFill>
              <a:effectLst/>
            </c:spPr>
          </c:dPt>
          <c:dPt>
            <c:idx val="2"/>
            <c:bubble3D val="0"/>
            <c:spPr>
              <a:solidFill>
                <a:srgbClr val="8C93A0"/>
              </a:solidFill>
              <a:effectLst/>
            </c:spPr>
          </c:dPt>
          <c:dLbls>
            <c:dLbl>
              <c:idx val="0"/>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AI-Medicine Research Grants</c:v>
                </c:pt>
                <c:pt idx="1">
                  <c:v>Venture Philanthropy / Co-Funding</c:v>
                </c:pt>
                <c:pt idx="2">
                  <c:v>Operating &amp; Governance</c:v>
                </c:pt>
              </c:strCache>
            </c:strRef>
          </c:cat>
          <c:val>
            <c:numRef>
              <c:f>Sheet1!$B$2:$B$4</c:f>
              <c:numCache>
                <c:ptCount val="3"/>
                <c:pt idx="0">
                  <c:v>70</c:v>
                </c:pt>
                <c:pt idx="1">
                  <c:v>20</c:v>
                </c:pt>
                <c:pt idx="2">
                  <c:v>10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8778240" y="-1920240"/>
            <a:ext cx="5669280" cy="5669280"/>
          </a:xfrm>
          <a:prstGeom prst="ellipse">
            <a:avLst/>
          </a:prstGeom>
          <a:ln w="12700">
            <a:solidFill>
              <a:srgbClr val="C6A15B">
                <a:alpha val="45000"/>
              </a:srgbClr>
            </a:solidFill>
            <a:prstDash val="solid"/>
          </a:ln>
        </p:spPr>
      </p:sp>
      <p:sp>
        <p:nvSpPr>
          <p:cNvPr id="3" name="Shape 1"/>
          <p:cNvSpPr/>
          <p:nvPr/>
        </p:nvSpPr>
        <p:spPr>
          <a:xfrm>
            <a:off x="-2194560" y="4206240"/>
            <a:ext cx="4023360" cy="4023360"/>
          </a:xfrm>
          <a:prstGeom prst="ellipse">
            <a:avLst/>
          </a:prstGeom>
          <a:ln w="12700">
            <a:solidFill>
              <a:srgbClr val="C6A15B">
                <a:alpha val="30000"/>
              </a:srgbClr>
            </a:solidFill>
            <a:prstDash val="solid"/>
          </a:ln>
        </p:spPr>
      </p:sp>
      <p:sp>
        <p:nvSpPr>
          <p:cNvPr id="4" name="Text 2"/>
          <p:cNvSpPr txBox="1"/>
          <p:nvPr/>
        </p:nvSpPr>
        <p:spPr>
          <a:xfrm>
            <a:off x="822960" y="105156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PRIVATE WEALTH ADVISORY · SYDNEY</a:t>
            </a:r>
            <a:endParaRPr lang="en-US" sz="1100" dirty="0"/>
          </a:p>
        </p:txBody>
      </p:sp>
      <p:sp>
        <p:nvSpPr>
          <p:cNvPr id="5" name="Text 3"/>
          <p:cNvSpPr txBox="1"/>
          <p:nvPr/>
        </p:nvSpPr>
        <p:spPr>
          <a:xfrm>
            <a:off x="777240" y="2331720"/>
            <a:ext cx="10241280" cy="1828800"/>
          </a:xfrm>
          <a:prstGeom prst="rect">
            <a:avLst/>
          </a:prstGeom>
          <a:noFill/>
          <a:ln/>
        </p:spPr>
        <p:txBody>
          <a:bodyPr wrap="square"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Family Office</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Investment Strategy</a:t>
            </a:r>
            <a:endParaRPr lang="en-US" sz="4400" dirty="0"/>
          </a:p>
        </p:txBody>
      </p:sp>
      <p:sp>
        <p:nvSpPr>
          <p:cNvPr id="6" name="Text 4"/>
          <p:cNvSpPr txBox="1"/>
          <p:nvPr/>
        </p:nvSpPr>
        <p:spPr>
          <a:xfrm>
            <a:off x="822960" y="4160520"/>
            <a:ext cx="8686800" cy="457200"/>
          </a:xfrm>
          <a:prstGeom prst="rect">
            <a:avLst/>
          </a:prstGeom>
          <a:noFill/>
          <a:ln/>
        </p:spPr>
        <p:txBody>
          <a:bodyPr wrap="square" rtlCol="0" anchor="ctr"/>
          <a:lstStyle/>
          <a:p>
            <a:pPr indent="0" marL="0">
              <a:buNone/>
            </a:pPr>
            <a:r>
              <a:rPr lang="en-US" sz="1700" i="1" dirty="0">
                <a:solidFill>
                  <a:srgbClr val="F6F3EC"/>
                </a:solidFill>
                <a:latin typeface="Calibri" pitchFamily="34" charset="0"/>
                <a:ea typeface="Calibri" pitchFamily="34" charset="-122"/>
                <a:cs typeface="Calibri" pitchFamily="34" charset="-120"/>
              </a:rPr>
              <a:t>A Five-Pool Framework for Multi-Generational Capital</a:t>
            </a:r>
            <a:endParaRPr lang="en-US" sz="1700" dirty="0"/>
          </a:p>
        </p:txBody>
      </p:sp>
      <p:sp>
        <p:nvSpPr>
          <p:cNvPr id="7" name="Text 5"/>
          <p:cNvSpPr txBox="1"/>
          <p:nvPr/>
        </p:nvSpPr>
        <p:spPr>
          <a:xfrm>
            <a:off x="822960" y="6172200"/>
            <a:ext cx="3657600" cy="274320"/>
          </a:xfrm>
          <a:prstGeom prst="rect">
            <a:avLst/>
          </a:prstGeom>
          <a:noFill/>
          <a:ln/>
        </p:spPr>
        <p:txBody>
          <a:bodyPr wrap="square" rtlCol="0" anchor="ctr"/>
          <a:lstStyle/>
          <a:p>
            <a:pPr indent="0" marL="0">
              <a:buNone/>
            </a:pPr>
            <a:r>
              <a:rPr lang="en-US" sz="1050" dirty="0">
                <a:solidFill>
                  <a:srgbClr val="8C93A0"/>
                </a:solidFill>
                <a:latin typeface="Calibri" pitchFamily="34" charset="0"/>
                <a:ea typeface="Calibri" pitchFamily="34" charset="-122"/>
                <a:cs typeface="Calibri" pitchFamily="34" charset="-120"/>
              </a:rPr>
              <a:t>Prepared August 2026</a:t>
            </a:r>
            <a:endParaRPr lang="en-US" sz="1050" dirty="0"/>
          </a:p>
        </p:txBody>
      </p:sp>
      <p:sp>
        <p:nvSpPr>
          <p:cNvPr id="8" name="Text 6"/>
          <p:cNvSpPr txBox="1"/>
          <p:nvPr/>
        </p:nvSpPr>
        <p:spPr>
          <a:xfrm>
            <a:off x="7680960" y="6172200"/>
            <a:ext cx="40233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PHILOSOPHY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Purpose-Built Pools, By Design</a:t>
            </a:r>
            <a:endParaRPr lang="en-US" sz="3000" dirty="0"/>
          </a:p>
        </p:txBody>
      </p:sp>
      <p:sp>
        <p:nvSpPr>
          <p:cNvPr id="4" name="Text 2"/>
          <p:cNvSpPr txBox="1"/>
          <p:nvPr/>
        </p:nvSpPr>
        <p:spPr>
          <a:xfrm>
            <a:off x="457200" y="1234440"/>
            <a:ext cx="10607040" cy="310896"/>
          </a:xfrm>
          <a:prstGeom prst="rect">
            <a:avLst/>
          </a:prstGeom>
          <a:noFill/>
          <a:ln/>
        </p:spPr>
        <p:txBody>
          <a:bodyPr wrap="square" rtlCol="0" anchor="ctr"/>
          <a:lstStyle/>
          <a:p>
            <a:pPr indent="0" marL="0">
              <a:buNone/>
            </a:pPr>
            <a:r>
              <a:rPr lang="en-US" sz="1300" i="1" dirty="0">
                <a:solidFill>
                  <a:srgbClr val="8C93A0"/>
                </a:solidFill>
                <a:latin typeface="Calibri" pitchFamily="34" charset="0"/>
                <a:ea typeface="Calibri" pitchFamily="34" charset="-122"/>
                <a:cs typeface="Calibri" pitchFamily="34" charset="-120"/>
              </a:rPr>
              <a:t>The family's capital is deliberately segregated, not managed as a single blended portfolio.</a:t>
            </a:r>
            <a:endParaRPr lang="en-US" sz="1300" dirty="0"/>
          </a:p>
        </p:txBody>
      </p:sp>
      <p:sp>
        <p:nvSpPr>
          <p:cNvPr id="5" name="Text 3"/>
          <p:cNvSpPr txBox="1"/>
          <p:nvPr/>
        </p:nvSpPr>
        <p:spPr>
          <a:xfrm>
            <a:off x="457200" y="1664208"/>
            <a:ext cx="11064240" cy="640080"/>
          </a:xfrm>
          <a:prstGeom prst="rect">
            <a:avLst/>
          </a:prstGeom>
          <a:noFill/>
          <a:ln/>
        </p:spPr>
        <p:txBody>
          <a:bodyPr wrap="square" rtlCol="0" anchor="ctr"/>
          <a:lstStyle/>
          <a:p>
            <a:pPr indent="0" marL="0">
              <a:lnSpc>
                <a:spcPct val="125000"/>
              </a:lnSpc>
              <a:buNone/>
            </a:pPr>
            <a:r>
              <a:rPr lang="en-US" sz="1300" dirty="0">
                <a:solidFill>
                  <a:srgbClr val="0B1B2B"/>
                </a:solidFill>
                <a:latin typeface="Calibri" pitchFamily="34" charset="0"/>
                <a:ea typeface="Calibri" pitchFamily="34" charset="-122"/>
                <a:cs typeface="Calibri" pitchFamily="34" charset="-120"/>
              </a:rPr>
              <a:t>Each pool exists for a distinct reason — compounding, income, a specific liability, deal flow, or family purpose. Keeping them separate, rather than folding everything into one blended portfolio, is what makes disciplined governance, transparent reporting and precise risk management possible at family-office scale.</a:t>
            </a:r>
            <a:endParaRPr lang="en-US" sz="1300" dirty="0"/>
          </a:p>
        </p:txBody>
      </p:sp>
      <p:sp>
        <p:nvSpPr>
          <p:cNvPr id="6" name="Shape 4"/>
          <p:cNvSpPr/>
          <p:nvPr/>
        </p:nvSpPr>
        <p:spPr>
          <a:xfrm>
            <a:off x="45720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7" name="Shape 5"/>
          <p:cNvSpPr/>
          <p:nvPr/>
        </p:nvSpPr>
        <p:spPr>
          <a:xfrm>
            <a:off x="749808" y="2807208"/>
            <a:ext cx="548640" cy="548640"/>
          </a:xfrm>
          <a:prstGeom prst="ellipse">
            <a:avLst/>
          </a:prstGeom>
          <a:solidFill>
            <a:srgbClr val="C6A15B"/>
          </a:solidFill>
          <a:ln/>
        </p:spPr>
      </p:sp>
      <p:pic>
        <p:nvPicPr>
          <p:cNvPr id="8" name="Image 0" descr="preencoded.png">    </p:cNvPr>
          <p:cNvPicPr>
            <a:picLocks noChangeAspect="1"/>
          </p:cNvPicPr>
          <p:nvPr/>
        </p:nvPicPr>
        <p:blipFill>
          <a:blip r:embed="rId1"/>
          <a:stretch>
            <a:fillRect/>
          </a:stretch>
        </p:blipFill>
        <p:spPr>
          <a:xfrm>
            <a:off x="821131" y="2878531"/>
            <a:ext cx="405994" cy="405994"/>
          </a:xfrm>
          <a:prstGeom prst="rect">
            <a:avLst/>
          </a:prstGeom>
        </p:spPr>
      </p:pic>
      <p:sp>
        <p:nvSpPr>
          <p:cNvPr id="9" name="Text 6"/>
          <p:cNvSpPr txBox="1"/>
          <p:nvPr/>
        </p:nvSpPr>
        <p:spPr>
          <a:xfrm>
            <a:off x="74980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Governance</a:t>
            </a:r>
            <a:endParaRPr lang="en-US" sz="1700" dirty="0"/>
          </a:p>
        </p:txBody>
      </p:sp>
      <p:sp>
        <p:nvSpPr>
          <p:cNvPr id="10" name="Text 7"/>
          <p:cNvSpPr txBox="1"/>
          <p:nvPr/>
        </p:nvSpPr>
        <p:spPr>
          <a:xfrm>
            <a:off x="74980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mandate, benchmark and named decision-maker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Investment Committee approves changes pool-by-pool, not as one blended vote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Lifestyle spending decisions never get bundled with multi-generational compounding decisions</a:t>
            </a:r>
            <a:endParaRPr lang="en-US" sz="1100" dirty="0"/>
          </a:p>
        </p:txBody>
      </p:sp>
      <p:sp>
        <p:nvSpPr>
          <p:cNvPr id="11" name="Shape 8"/>
          <p:cNvSpPr/>
          <p:nvPr/>
        </p:nvSpPr>
        <p:spPr>
          <a:xfrm>
            <a:off x="425196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4544568" y="2807208"/>
            <a:ext cx="548640" cy="548640"/>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4615891" y="2878531"/>
            <a:ext cx="405994" cy="405994"/>
          </a:xfrm>
          <a:prstGeom prst="rect">
            <a:avLst/>
          </a:prstGeom>
        </p:spPr>
      </p:pic>
      <p:sp>
        <p:nvSpPr>
          <p:cNvPr id="14" name="Text 10"/>
          <p:cNvSpPr txBox="1"/>
          <p:nvPr/>
        </p:nvSpPr>
        <p:spPr>
          <a:xfrm>
            <a:off x="454456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Transparency</a:t>
            </a:r>
            <a:endParaRPr lang="en-US" sz="1700" dirty="0"/>
          </a:p>
        </p:txBody>
      </p:sp>
      <p:sp>
        <p:nvSpPr>
          <p:cNvPr id="15" name="Text 11"/>
          <p:cNvSpPr txBox="1"/>
          <p:nvPr/>
        </p:nvSpPr>
        <p:spPr>
          <a:xfrm>
            <a:off x="454456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Performance, cost and risk are reported pool-by-pool, not blended into one number</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The family can see exactly which capital is doing what, and why</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Next-generation members can engage with Philanthropy without exposure to the full balance sheet</a:t>
            </a:r>
            <a:endParaRPr lang="en-US" sz="1100" dirty="0"/>
          </a:p>
        </p:txBody>
      </p:sp>
      <p:sp>
        <p:nvSpPr>
          <p:cNvPr id="16" name="Shape 12"/>
          <p:cNvSpPr/>
          <p:nvPr/>
        </p:nvSpPr>
        <p:spPr>
          <a:xfrm>
            <a:off x="8046720" y="2514600"/>
            <a:ext cx="3566160" cy="3611880"/>
          </a:xfrm>
          <a:prstGeom prst="roundRect">
            <a:avLst>
              <a:gd name="adj" fmla="val 2308"/>
            </a:avLst>
          </a:prstGeom>
          <a:solidFill>
            <a:srgbClr val="0B1B2B"/>
          </a:solidFill>
          <a:ln/>
          <a:effectLst>
            <a:outerShdw sx="100000" sy="100000" kx="0" ky="0" algn="bl" rotWithShape="0" blurRad="101600" dist="38100" dir="5400000">
              <a:srgbClr val="071320">
                <a:alpha val="25000"/>
              </a:srgbClr>
            </a:outerShdw>
          </a:effectLst>
        </p:spPr>
      </p:sp>
      <p:sp>
        <p:nvSpPr>
          <p:cNvPr id="17" name="Shape 13"/>
          <p:cNvSpPr/>
          <p:nvPr/>
        </p:nvSpPr>
        <p:spPr>
          <a:xfrm>
            <a:off x="8339328" y="2807208"/>
            <a:ext cx="548640" cy="548640"/>
          </a:xfrm>
          <a:prstGeom prst="ellipse">
            <a:avLst/>
          </a:prstGeom>
          <a:solidFill>
            <a:srgbClr val="C6A15B"/>
          </a:solidFill>
          <a:ln/>
        </p:spPr>
      </p:sp>
      <p:pic>
        <p:nvPicPr>
          <p:cNvPr id="18" name="Image 2" descr="preencoded.png">    </p:cNvPr>
          <p:cNvPicPr>
            <a:picLocks noChangeAspect="1"/>
          </p:cNvPicPr>
          <p:nvPr/>
        </p:nvPicPr>
        <p:blipFill>
          <a:blip r:embed="rId3"/>
          <a:stretch>
            <a:fillRect/>
          </a:stretch>
        </p:blipFill>
        <p:spPr>
          <a:xfrm>
            <a:off x="8410651" y="2878531"/>
            <a:ext cx="405994" cy="405994"/>
          </a:xfrm>
          <a:prstGeom prst="rect">
            <a:avLst/>
          </a:prstGeom>
        </p:spPr>
      </p:pic>
      <p:sp>
        <p:nvSpPr>
          <p:cNvPr id="19" name="Text 14"/>
          <p:cNvSpPr txBox="1"/>
          <p:nvPr/>
        </p:nvSpPr>
        <p:spPr>
          <a:xfrm>
            <a:off x="8339328" y="3474720"/>
            <a:ext cx="2980944" cy="36576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Risk Management</a:t>
            </a:r>
            <a:endParaRPr lang="en-US" sz="1700" dirty="0"/>
          </a:p>
        </p:txBody>
      </p:sp>
      <p:sp>
        <p:nvSpPr>
          <p:cNvPr id="20" name="Text 15"/>
          <p:cNvSpPr txBox="1"/>
          <p:nvPr/>
        </p:nvSpPr>
        <p:spPr>
          <a:xfrm>
            <a:off x="8339328" y="3931920"/>
            <a:ext cx="2980944" cy="1965960"/>
          </a:xfrm>
          <a:prstGeom prst="rect">
            <a:avLst/>
          </a:prstGeom>
          <a:noFill/>
          <a:ln/>
        </p:spPr>
        <p:txBody>
          <a:bodyPr wrap="square" rtlCol="0" anchor="t"/>
          <a:lstStyle/>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Ring-fencing prevents contagion — a covenant on the yacht facility can never force a sale of the core stock</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Each pool carries its own risk budget, liquidity profile and hedging protocol suited to its purpose</a:t>
            </a:r>
            <a:endParaRPr lang="en-US" sz="1100" dirty="0"/>
          </a:p>
          <a:p>
            <a:pPr marL="177800" indent="-177800">
              <a:lnSpc>
                <a:spcPct val="115000"/>
              </a:lnSpc>
              <a:spcAft>
                <a:spcPts val="1000"/>
              </a:spcAft>
              <a:buSzPct val="100000"/>
              <a:buChar char="●"/>
            </a:pPr>
            <a:r>
              <a:rPr lang="en-US" sz="1100" dirty="0">
                <a:solidFill>
                  <a:srgbClr val="F6F3EC"/>
                </a:solidFill>
                <a:latin typeface="Calibri" pitchFamily="34" charset="0"/>
                <a:ea typeface="Calibri" pitchFamily="34" charset="-122"/>
                <a:cs typeface="Calibri" pitchFamily="34" charset="-120"/>
              </a:rPr>
              <a:t>Concentration and illiquidity stay visible and limited pool-by-pool, not hidden inside a blended return</a:t>
            </a:r>
            <a:endParaRPr lang="en-US" sz="1100" dirty="0"/>
          </a:p>
        </p:txBody>
      </p:sp>
      <p:sp>
        <p:nvSpPr>
          <p:cNvPr id="21"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2"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C"/>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713232"/>
            <a:ext cx="1124712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One Family, Five Pools of Capital</a:t>
            </a:r>
            <a:endParaRPr lang="en-US" sz="3000" dirty="0"/>
          </a:p>
        </p:txBody>
      </p:sp>
      <p:sp>
        <p:nvSpPr>
          <p:cNvPr id="4" name="Text 2"/>
          <p:cNvSpPr txBox="1"/>
          <p:nvPr/>
        </p:nvSpPr>
        <p:spPr>
          <a:xfrm>
            <a:off x="457200" y="1234440"/>
            <a:ext cx="10607040" cy="365760"/>
          </a:xfrm>
          <a:prstGeom prst="rect">
            <a:avLst/>
          </a:prstGeom>
          <a:noFill/>
          <a:ln/>
        </p:spPr>
        <p:txBody>
          <a:bodyPr wrap="square" rtlCol="0" anchor="ctr"/>
          <a:lstStyle/>
          <a:p>
            <a:pPr indent="0" marL="0">
              <a:buNone/>
            </a:pPr>
            <a:r>
              <a:rPr lang="en-US" sz="1300" dirty="0">
                <a:solidFill>
                  <a:srgbClr val="8C93A0"/>
                </a:solidFill>
                <a:latin typeface="Calibri" pitchFamily="34" charset="0"/>
                <a:ea typeface="Calibri" pitchFamily="34" charset="-122"/>
                <a:cs typeface="Calibri" pitchFamily="34" charset="-120"/>
              </a:rPr>
              <a:t>Each pool is managed against its own purpose, time horizon and risk budget — together they form a single, coordinated family balance sheet.</a:t>
            </a:r>
            <a:endParaRPr lang="en-US" sz="1300" dirty="0"/>
          </a:p>
        </p:txBody>
      </p:sp>
      <p:sp>
        <p:nvSpPr>
          <p:cNvPr id="5" name="Shape 3"/>
          <p:cNvSpPr/>
          <p:nvPr/>
        </p:nvSpPr>
        <p:spPr>
          <a:xfrm>
            <a:off x="457200"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6" name="Shape 4"/>
          <p:cNvSpPr/>
          <p:nvPr/>
        </p:nvSpPr>
        <p:spPr>
          <a:xfrm>
            <a:off x="713232" y="2258568"/>
            <a:ext cx="530352" cy="530352"/>
          </a:xfrm>
          <a:prstGeom prst="ellipse">
            <a:avLst/>
          </a:prstGeom>
          <a:solidFill>
            <a:srgbClr val="C6A15B"/>
          </a:solidFill>
          <a:ln/>
        </p:spPr>
      </p:sp>
      <p:pic>
        <p:nvPicPr>
          <p:cNvPr id="7" name="Image 0" descr="preencoded.png">    </p:cNvPr>
          <p:cNvPicPr>
            <a:picLocks noChangeAspect="1"/>
          </p:cNvPicPr>
          <p:nvPr/>
        </p:nvPicPr>
        <p:blipFill>
          <a:blip r:embed="rId1"/>
          <a:stretch>
            <a:fillRect/>
          </a:stretch>
        </p:blipFill>
        <p:spPr>
          <a:xfrm>
            <a:off x="782178" y="2327514"/>
            <a:ext cx="392460" cy="392460"/>
          </a:xfrm>
          <a:prstGeom prst="rect">
            <a:avLst/>
          </a:prstGeom>
        </p:spPr>
      </p:pic>
      <p:sp>
        <p:nvSpPr>
          <p:cNvPr id="8" name="Text 5"/>
          <p:cNvSpPr txBox="1"/>
          <p:nvPr/>
        </p:nvSpPr>
        <p:spPr>
          <a:xfrm>
            <a:off x="713232"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01</a:t>
            </a:r>
            <a:endParaRPr lang="en-US" sz="1500" dirty="0"/>
          </a:p>
        </p:txBody>
      </p:sp>
      <p:sp>
        <p:nvSpPr>
          <p:cNvPr id="9" name="Text 6"/>
          <p:cNvSpPr txBox="1"/>
          <p:nvPr/>
        </p:nvSpPr>
        <p:spPr>
          <a:xfrm>
            <a:off x="713232"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Capital Growth</a:t>
            </a:r>
            <a:endParaRPr lang="en-US" sz="1450" dirty="0"/>
          </a:p>
        </p:txBody>
      </p:sp>
      <p:sp>
        <p:nvSpPr>
          <p:cNvPr id="10" name="Text 7"/>
          <p:cNvSpPr txBox="1"/>
          <p:nvPr/>
        </p:nvSpPr>
        <p:spPr>
          <a:xfrm>
            <a:off x="713232"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Multi-generational compounding of a concentrated single-stock position.</a:t>
            </a:r>
            <a:endParaRPr lang="en-US" sz="1100" dirty="0"/>
          </a:p>
        </p:txBody>
      </p:sp>
      <p:sp>
        <p:nvSpPr>
          <p:cNvPr id="11" name="Shape 8"/>
          <p:cNvSpPr/>
          <p:nvPr/>
        </p:nvSpPr>
        <p:spPr>
          <a:xfrm>
            <a:off x="2752344"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2" name="Shape 9"/>
          <p:cNvSpPr/>
          <p:nvPr/>
        </p:nvSpPr>
        <p:spPr>
          <a:xfrm>
            <a:off x="3008376" y="2258568"/>
            <a:ext cx="530352" cy="530352"/>
          </a:xfrm>
          <a:prstGeom prst="ellipse">
            <a:avLst/>
          </a:prstGeom>
          <a:solidFill>
            <a:srgbClr val="C6A15B"/>
          </a:solidFill>
          <a:ln/>
        </p:spPr>
      </p:sp>
      <p:pic>
        <p:nvPicPr>
          <p:cNvPr id="13" name="Image 1" descr="preencoded.png">    </p:cNvPr>
          <p:cNvPicPr>
            <a:picLocks noChangeAspect="1"/>
          </p:cNvPicPr>
          <p:nvPr/>
        </p:nvPicPr>
        <p:blipFill>
          <a:blip r:embed="rId2"/>
          <a:stretch>
            <a:fillRect/>
          </a:stretch>
        </p:blipFill>
        <p:spPr>
          <a:xfrm>
            <a:off x="3077322" y="2327514"/>
            <a:ext cx="392460" cy="392460"/>
          </a:xfrm>
          <a:prstGeom prst="rect">
            <a:avLst/>
          </a:prstGeom>
        </p:spPr>
      </p:pic>
      <p:sp>
        <p:nvSpPr>
          <p:cNvPr id="14" name="Text 10"/>
          <p:cNvSpPr txBox="1"/>
          <p:nvPr/>
        </p:nvSpPr>
        <p:spPr>
          <a:xfrm>
            <a:off x="3008376"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02</a:t>
            </a:r>
            <a:endParaRPr lang="en-US" sz="1500" dirty="0"/>
          </a:p>
        </p:txBody>
      </p:sp>
      <p:sp>
        <p:nvSpPr>
          <p:cNvPr id="15" name="Text 11"/>
          <p:cNvSpPr txBox="1"/>
          <p:nvPr/>
        </p:nvSpPr>
        <p:spPr>
          <a:xfrm>
            <a:off x="3008376"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Stable Yield</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Growth</a:t>
            </a:r>
            <a:endParaRPr lang="en-US" sz="1450" dirty="0"/>
          </a:p>
        </p:txBody>
      </p:sp>
      <p:sp>
        <p:nvSpPr>
          <p:cNvPr id="16" name="Text 12"/>
          <p:cNvSpPr txBox="1"/>
          <p:nvPr/>
        </p:nvSpPr>
        <p:spPr>
          <a:xfrm>
            <a:off x="3008376"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Diversified core portfolio targeting 7.5% p.a. total return.</a:t>
            </a:r>
            <a:endParaRPr lang="en-US" sz="1100" dirty="0"/>
          </a:p>
        </p:txBody>
      </p:sp>
      <p:sp>
        <p:nvSpPr>
          <p:cNvPr id="17" name="Shape 13"/>
          <p:cNvSpPr/>
          <p:nvPr/>
        </p:nvSpPr>
        <p:spPr>
          <a:xfrm>
            <a:off x="5047488"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18" name="Shape 14"/>
          <p:cNvSpPr/>
          <p:nvPr/>
        </p:nvSpPr>
        <p:spPr>
          <a:xfrm>
            <a:off x="5303520" y="2258568"/>
            <a:ext cx="530352" cy="530352"/>
          </a:xfrm>
          <a:prstGeom prst="ellipse">
            <a:avLst/>
          </a:prstGeom>
          <a:solidFill>
            <a:srgbClr val="C6A15B"/>
          </a:solidFill>
          <a:ln/>
        </p:spPr>
      </p:sp>
      <p:pic>
        <p:nvPicPr>
          <p:cNvPr id="19" name="Image 2" descr="preencoded.png">    </p:cNvPr>
          <p:cNvPicPr>
            <a:picLocks noChangeAspect="1"/>
          </p:cNvPicPr>
          <p:nvPr/>
        </p:nvPicPr>
        <p:blipFill>
          <a:blip r:embed="rId3"/>
          <a:stretch>
            <a:fillRect/>
          </a:stretch>
        </p:blipFill>
        <p:spPr>
          <a:xfrm>
            <a:off x="5372466" y="2327514"/>
            <a:ext cx="392460" cy="392460"/>
          </a:xfrm>
          <a:prstGeom prst="rect">
            <a:avLst/>
          </a:prstGeom>
        </p:spPr>
      </p:pic>
      <p:sp>
        <p:nvSpPr>
          <p:cNvPr id="20" name="Text 15"/>
          <p:cNvSpPr txBox="1"/>
          <p:nvPr/>
        </p:nvSpPr>
        <p:spPr>
          <a:xfrm>
            <a:off x="5303520"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03</a:t>
            </a:r>
            <a:endParaRPr lang="en-US" sz="1500" dirty="0"/>
          </a:p>
        </p:txBody>
      </p:sp>
      <p:sp>
        <p:nvSpPr>
          <p:cNvPr id="21" name="Text 16"/>
          <p:cNvSpPr txBox="1"/>
          <p:nvPr/>
        </p:nvSpPr>
        <p:spPr>
          <a:xfrm>
            <a:off x="5303520"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Yacht Facility</a:t>
            </a:r>
            <a:endParaRPr lang="en-US" sz="1450" dirty="0"/>
          </a:p>
        </p:txBody>
      </p:sp>
      <p:sp>
        <p:nvSpPr>
          <p:cNvPr id="22" name="Text 17"/>
          <p:cNvSpPr txBox="1"/>
          <p:nvPr/>
        </p:nvSpPr>
        <p:spPr>
          <a:xfrm>
            <a:off x="5303520"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Lending-led structure funding purchase and running costs.</a:t>
            </a:r>
            <a:endParaRPr lang="en-US" sz="1100" dirty="0"/>
          </a:p>
        </p:txBody>
      </p:sp>
      <p:sp>
        <p:nvSpPr>
          <p:cNvPr id="23" name="Shape 18"/>
          <p:cNvSpPr/>
          <p:nvPr/>
        </p:nvSpPr>
        <p:spPr>
          <a:xfrm>
            <a:off x="7342632"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24" name="Shape 19"/>
          <p:cNvSpPr/>
          <p:nvPr/>
        </p:nvSpPr>
        <p:spPr>
          <a:xfrm>
            <a:off x="7598664" y="2258568"/>
            <a:ext cx="530352" cy="530352"/>
          </a:xfrm>
          <a:prstGeom prst="ellipse">
            <a:avLst/>
          </a:prstGeom>
          <a:solidFill>
            <a:srgbClr val="C6A15B"/>
          </a:solidFill>
          <a:ln/>
        </p:spPr>
      </p:sp>
      <p:pic>
        <p:nvPicPr>
          <p:cNvPr id="25" name="Image 3" descr="preencoded.png">    </p:cNvPr>
          <p:cNvPicPr>
            <a:picLocks noChangeAspect="1"/>
          </p:cNvPicPr>
          <p:nvPr/>
        </p:nvPicPr>
        <p:blipFill>
          <a:blip r:embed="rId4"/>
          <a:stretch>
            <a:fillRect/>
          </a:stretch>
        </p:blipFill>
        <p:spPr>
          <a:xfrm>
            <a:off x="7667610" y="2327514"/>
            <a:ext cx="392460" cy="392460"/>
          </a:xfrm>
          <a:prstGeom prst="rect">
            <a:avLst/>
          </a:prstGeom>
        </p:spPr>
      </p:pic>
      <p:sp>
        <p:nvSpPr>
          <p:cNvPr id="26" name="Text 20"/>
          <p:cNvSpPr txBox="1"/>
          <p:nvPr/>
        </p:nvSpPr>
        <p:spPr>
          <a:xfrm>
            <a:off x="7598664"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04</a:t>
            </a:r>
            <a:endParaRPr lang="en-US" sz="1500" dirty="0"/>
          </a:p>
        </p:txBody>
      </p:sp>
      <p:sp>
        <p:nvSpPr>
          <p:cNvPr id="27" name="Text 21"/>
          <p:cNvSpPr txBox="1"/>
          <p:nvPr/>
        </p:nvSpPr>
        <p:spPr>
          <a:xfrm>
            <a:off x="7598664"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Opportunistic</a:t>
            </a:r>
            <a:endParaRPr lang="en-US" sz="1450" dirty="0"/>
          </a:p>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&amp; Private Markets</a:t>
            </a:r>
            <a:endParaRPr lang="en-US" sz="1450" dirty="0"/>
          </a:p>
        </p:txBody>
      </p:sp>
      <p:sp>
        <p:nvSpPr>
          <p:cNvPr id="28" name="Text 22"/>
          <p:cNvSpPr txBox="1"/>
          <p:nvPr/>
        </p:nvSpPr>
        <p:spPr>
          <a:xfrm>
            <a:off x="7598664"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Direct deal flow and private-market co-investment.</a:t>
            </a:r>
            <a:endParaRPr lang="en-US" sz="1100" dirty="0"/>
          </a:p>
        </p:txBody>
      </p:sp>
      <p:sp>
        <p:nvSpPr>
          <p:cNvPr id="29" name="Shape 23"/>
          <p:cNvSpPr/>
          <p:nvPr/>
        </p:nvSpPr>
        <p:spPr>
          <a:xfrm>
            <a:off x="9637776" y="1965960"/>
            <a:ext cx="2121408" cy="4160520"/>
          </a:xfrm>
          <a:prstGeom prst="roundRect">
            <a:avLst>
              <a:gd name="adj" fmla="val 3879"/>
            </a:avLst>
          </a:prstGeom>
          <a:solidFill>
            <a:srgbClr val="0B1B2B"/>
          </a:solidFill>
          <a:ln/>
          <a:effectLst>
            <a:outerShdw sx="100000" sy="100000" kx="0" ky="0" algn="bl" rotWithShape="0" blurRad="101600" dist="38100" dir="5400000">
              <a:srgbClr val="071320">
                <a:alpha val="25000"/>
              </a:srgbClr>
            </a:outerShdw>
          </a:effectLst>
        </p:spPr>
      </p:sp>
      <p:sp>
        <p:nvSpPr>
          <p:cNvPr id="30" name="Shape 24"/>
          <p:cNvSpPr/>
          <p:nvPr/>
        </p:nvSpPr>
        <p:spPr>
          <a:xfrm>
            <a:off x="9893808" y="2258568"/>
            <a:ext cx="530352" cy="530352"/>
          </a:xfrm>
          <a:prstGeom prst="ellipse">
            <a:avLst/>
          </a:prstGeom>
          <a:solidFill>
            <a:srgbClr val="C6A15B"/>
          </a:solidFill>
          <a:ln/>
        </p:spPr>
      </p:sp>
      <p:pic>
        <p:nvPicPr>
          <p:cNvPr id="31" name="Image 4" descr="preencoded.png">    </p:cNvPr>
          <p:cNvPicPr>
            <a:picLocks noChangeAspect="1"/>
          </p:cNvPicPr>
          <p:nvPr/>
        </p:nvPicPr>
        <p:blipFill>
          <a:blip r:embed="rId5"/>
          <a:stretch>
            <a:fillRect/>
          </a:stretch>
        </p:blipFill>
        <p:spPr>
          <a:xfrm>
            <a:off x="9962754" y="2327514"/>
            <a:ext cx="392460" cy="392460"/>
          </a:xfrm>
          <a:prstGeom prst="rect">
            <a:avLst/>
          </a:prstGeom>
        </p:spPr>
      </p:pic>
      <p:sp>
        <p:nvSpPr>
          <p:cNvPr id="32" name="Text 25"/>
          <p:cNvSpPr txBox="1"/>
          <p:nvPr/>
        </p:nvSpPr>
        <p:spPr>
          <a:xfrm>
            <a:off x="9893808" y="2926080"/>
            <a:ext cx="1609344" cy="310896"/>
          </a:xfrm>
          <a:prstGeom prst="rect">
            <a:avLst/>
          </a:prstGeom>
          <a:noFill/>
          <a:ln/>
        </p:spPr>
        <p:txBody>
          <a:bodyPr wrap="square" rtlCol="0" anchor="ctr"/>
          <a:lstStyle/>
          <a:p>
            <a:pPr indent="0" marL="0">
              <a:buNone/>
            </a:pPr>
            <a:r>
              <a:rPr lang="en-US" sz="1500" b="1" dirty="0">
                <a:solidFill>
                  <a:srgbClr val="C6A15B"/>
                </a:solidFill>
                <a:latin typeface="Cambria" pitchFamily="34" charset="0"/>
                <a:ea typeface="Cambria" pitchFamily="34" charset="-122"/>
                <a:cs typeface="Cambria" pitchFamily="34" charset="-120"/>
              </a:rPr>
              <a:t>05</a:t>
            </a:r>
            <a:endParaRPr lang="en-US" sz="1500" dirty="0"/>
          </a:p>
        </p:txBody>
      </p:sp>
      <p:sp>
        <p:nvSpPr>
          <p:cNvPr id="33" name="Text 26"/>
          <p:cNvSpPr txBox="1"/>
          <p:nvPr/>
        </p:nvSpPr>
        <p:spPr>
          <a:xfrm>
            <a:off x="9893808" y="3227832"/>
            <a:ext cx="1609344" cy="86868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Philanthropy</a:t>
            </a:r>
            <a:endParaRPr lang="en-US" sz="1450" dirty="0"/>
          </a:p>
        </p:txBody>
      </p:sp>
      <p:sp>
        <p:nvSpPr>
          <p:cNvPr id="34" name="Text 27"/>
          <p:cNvSpPr txBox="1"/>
          <p:nvPr/>
        </p:nvSpPr>
        <p:spPr>
          <a:xfrm>
            <a:off x="9893808" y="4142232"/>
            <a:ext cx="1609344" cy="1764792"/>
          </a:xfrm>
          <a:prstGeom prst="rect">
            <a:avLst/>
          </a:prstGeom>
          <a:noFill/>
          <a:ln/>
        </p:spPr>
        <p:txBody>
          <a:bodyPr wrap="square" rtlCol="0" anchor="t"/>
          <a:lstStyle/>
          <a:p>
            <a:pPr indent="0" marL="0">
              <a:lnSpc>
                <a:spcPct val="115000"/>
              </a:lnSpc>
              <a:buNone/>
            </a:pPr>
            <a:r>
              <a:rPr lang="en-US" sz="1100" dirty="0">
                <a:solidFill>
                  <a:srgbClr val="F6F3EC"/>
                </a:solidFill>
                <a:latin typeface="Calibri" pitchFamily="34" charset="0"/>
                <a:ea typeface="Calibri" pitchFamily="34" charset="-122"/>
                <a:cs typeface="Calibri" pitchFamily="34" charset="-120"/>
              </a:rPr>
              <a:t>Multi-year funding for AI-driven medicine research.</a:t>
            </a:r>
            <a:endParaRPr lang="en-US" sz="1100" dirty="0"/>
          </a:p>
        </p:txBody>
      </p:sp>
      <p:sp>
        <p:nvSpPr>
          <p:cNvPr id="35" name="Text 28"/>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6" name="Text 29"/>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CAPITAL STRUCTURE</a:t>
            </a:r>
            <a:endParaRPr lang="en-US" sz="1100" dirty="0"/>
          </a:p>
        </p:txBody>
      </p:sp>
      <p:sp>
        <p:nvSpPr>
          <p:cNvPr id="3" name="Text 1"/>
          <p:cNvSpPr txBox="1"/>
          <p:nvPr/>
        </p:nvSpPr>
        <p:spPr>
          <a:xfrm>
            <a:off x="457200" y="713232"/>
            <a:ext cx="91440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Illustrative Capital Allocation</a:t>
            </a:r>
            <a:endParaRPr lang="en-US" sz="3000" dirty="0"/>
          </a:p>
        </p:txBody>
      </p:sp>
      <p:sp>
        <p:nvSpPr>
          <p:cNvPr id="4" name="Text 2"/>
          <p:cNvSpPr txBox="1"/>
          <p:nvPr/>
        </p:nvSpPr>
        <p:spPr>
          <a:xfrm>
            <a:off x="457200" y="1234440"/>
            <a:ext cx="91440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Indicative target weights, to be finalised in the Investment Policy Statement.</a:t>
            </a:r>
            <a:endParaRPr lang="en-US" sz="1250" dirty="0"/>
          </a:p>
        </p:txBody>
      </p:sp>
      <p:graphicFrame>
        <p:nvGraphicFramePr>
          <p:cNvPr id="5" name="Chart 0" descr=""/>
          <p:cNvGraphicFramePr/>
          <p:nvPr/>
        </p:nvGraphicFramePr>
        <p:xfrm>
          <a:off x="50292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806440" y="1883664"/>
            <a:ext cx="164592" cy="164592"/>
          </a:xfrm>
          <a:prstGeom prst="rect">
            <a:avLst/>
          </a:prstGeom>
          <a:solidFill>
            <a:srgbClr val="0B1B2B"/>
          </a:solidFill>
          <a:ln/>
        </p:spPr>
      </p:sp>
      <p:sp>
        <p:nvSpPr>
          <p:cNvPr id="7" name="Text 4"/>
          <p:cNvSpPr txBox="1"/>
          <p:nvPr/>
        </p:nvSpPr>
        <p:spPr>
          <a:xfrm>
            <a:off x="6080760" y="1792224"/>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Capital Growth  —  30%</a:t>
            </a:r>
            <a:endParaRPr lang="en-US" sz="1300" dirty="0"/>
          </a:p>
        </p:txBody>
      </p:sp>
      <p:sp>
        <p:nvSpPr>
          <p:cNvPr id="8" name="Text 5"/>
          <p:cNvSpPr txBox="1"/>
          <p:nvPr/>
        </p:nvSpPr>
        <p:spPr>
          <a:xfrm>
            <a:off x="6080760" y="2066544"/>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Multi-generational compounding</a:t>
            </a:r>
            <a:endParaRPr lang="en-US" sz="1100" dirty="0"/>
          </a:p>
        </p:txBody>
      </p:sp>
      <p:sp>
        <p:nvSpPr>
          <p:cNvPr id="9" name="Shape 6"/>
          <p:cNvSpPr/>
          <p:nvPr/>
        </p:nvSpPr>
        <p:spPr>
          <a:xfrm>
            <a:off x="5806440" y="2542032"/>
            <a:ext cx="164592" cy="164592"/>
          </a:xfrm>
          <a:prstGeom prst="rect">
            <a:avLst/>
          </a:prstGeom>
          <a:solidFill>
            <a:srgbClr val="C6A15B"/>
          </a:solidFill>
          <a:ln/>
        </p:spPr>
      </p:sp>
      <p:sp>
        <p:nvSpPr>
          <p:cNvPr id="10" name="Text 7"/>
          <p:cNvSpPr txBox="1"/>
          <p:nvPr/>
        </p:nvSpPr>
        <p:spPr>
          <a:xfrm>
            <a:off x="6080760" y="2450592"/>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Stable Yield &amp; Growth  —  35%</a:t>
            </a:r>
            <a:endParaRPr lang="en-US" sz="1300" dirty="0"/>
          </a:p>
        </p:txBody>
      </p:sp>
      <p:sp>
        <p:nvSpPr>
          <p:cNvPr id="11" name="Text 8"/>
          <p:cNvSpPr txBox="1"/>
          <p:nvPr/>
        </p:nvSpPr>
        <p:spPr>
          <a:xfrm>
            <a:off x="6080760" y="2724912"/>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Core income and growth engine</a:t>
            </a:r>
            <a:endParaRPr lang="en-US" sz="1100" dirty="0"/>
          </a:p>
        </p:txBody>
      </p:sp>
      <p:sp>
        <p:nvSpPr>
          <p:cNvPr id="12" name="Shape 9"/>
          <p:cNvSpPr/>
          <p:nvPr/>
        </p:nvSpPr>
        <p:spPr>
          <a:xfrm>
            <a:off x="5806440" y="3200400"/>
            <a:ext cx="164592" cy="164592"/>
          </a:xfrm>
          <a:prstGeom prst="rect">
            <a:avLst/>
          </a:prstGeom>
          <a:solidFill>
            <a:srgbClr val="8C2F39"/>
          </a:solidFill>
          <a:ln/>
        </p:spPr>
      </p:sp>
      <p:sp>
        <p:nvSpPr>
          <p:cNvPr id="13" name="Text 10"/>
          <p:cNvSpPr txBox="1"/>
          <p:nvPr/>
        </p:nvSpPr>
        <p:spPr>
          <a:xfrm>
            <a:off x="6080760" y="3108960"/>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Opportunistic / Private Markets  —  20%</a:t>
            </a:r>
            <a:endParaRPr lang="en-US" sz="1300" dirty="0"/>
          </a:p>
        </p:txBody>
      </p:sp>
      <p:sp>
        <p:nvSpPr>
          <p:cNvPr id="14" name="Text 11"/>
          <p:cNvSpPr txBox="1"/>
          <p:nvPr/>
        </p:nvSpPr>
        <p:spPr>
          <a:xfrm>
            <a:off x="6080760" y="3383280"/>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Differentiated alpha, deal flow</a:t>
            </a:r>
            <a:endParaRPr lang="en-US" sz="1100" dirty="0"/>
          </a:p>
        </p:txBody>
      </p:sp>
      <p:sp>
        <p:nvSpPr>
          <p:cNvPr id="15" name="Shape 12"/>
          <p:cNvSpPr/>
          <p:nvPr/>
        </p:nvSpPr>
        <p:spPr>
          <a:xfrm>
            <a:off x="5806440" y="3858768"/>
            <a:ext cx="164592" cy="164592"/>
          </a:xfrm>
          <a:prstGeom prst="rect">
            <a:avLst/>
          </a:prstGeom>
          <a:solidFill>
            <a:srgbClr val="5C7A73"/>
          </a:solidFill>
          <a:ln/>
        </p:spPr>
      </p:sp>
      <p:sp>
        <p:nvSpPr>
          <p:cNvPr id="16" name="Text 13"/>
          <p:cNvSpPr txBox="1"/>
          <p:nvPr/>
        </p:nvSpPr>
        <p:spPr>
          <a:xfrm>
            <a:off x="6080760" y="3767328"/>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Philanthropy  —  10%</a:t>
            </a:r>
            <a:endParaRPr lang="en-US" sz="1300" dirty="0"/>
          </a:p>
        </p:txBody>
      </p:sp>
      <p:sp>
        <p:nvSpPr>
          <p:cNvPr id="17" name="Text 14"/>
          <p:cNvSpPr txBox="1"/>
          <p:nvPr/>
        </p:nvSpPr>
        <p:spPr>
          <a:xfrm>
            <a:off x="6080760" y="4041648"/>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Purpose and family legacy</a:t>
            </a:r>
            <a:endParaRPr lang="en-US" sz="1100" dirty="0"/>
          </a:p>
        </p:txBody>
      </p:sp>
      <p:sp>
        <p:nvSpPr>
          <p:cNvPr id="18" name="Shape 15"/>
          <p:cNvSpPr/>
          <p:nvPr/>
        </p:nvSpPr>
        <p:spPr>
          <a:xfrm>
            <a:off x="5806440" y="4517136"/>
            <a:ext cx="164592" cy="164592"/>
          </a:xfrm>
          <a:prstGeom prst="rect">
            <a:avLst/>
          </a:prstGeom>
          <a:solidFill>
            <a:srgbClr val="8C93A0"/>
          </a:solidFill>
          <a:ln/>
        </p:spPr>
      </p:sp>
      <p:sp>
        <p:nvSpPr>
          <p:cNvPr id="19" name="Text 16"/>
          <p:cNvSpPr txBox="1"/>
          <p:nvPr/>
        </p:nvSpPr>
        <p:spPr>
          <a:xfrm>
            <a:off x="6080760" y="4425696"/>
            <a:ext cx="5577840" cy="292608"/>
          </a:xfrm>
          <a:prstGeom prst="rect">
            <a:avLst/>
          </a:prstGeom>
          <a:noFill/>
          <a:ln/>
        </p:spPr>
        <p:txBody>
          <a:bodyPr wrap="square" rtlCol="0" anchor="ctr"/>
          <a:lstStyle/>
          <a:p>
            <a:pPr indent="0" marL="0">
              <a:buNone/>
            </a:pPr>
            <a:r>
              <a:rPr lang="en-US" sz="1300" b="1" dirty="0">
                <a:solidFill>
                  <a:srgbClr val="0B1B2B"/>
                </a:solidFill>
                <a:latin typeface="Calibri" pitchFamily="34" charset="0"/>
                <a:ea typeface="Calibri" pitchFamily="34" charset="-122"/>
                <a:cs typeface="Calibri" pitchFamily="34" charset="-120"/>
              </a:rPr>
              <a:t>Liquidity Reserve  —  5%</a:t>
            </a:r>
            <a:endParaRPr lang="en-US" sz="1300" dirty="0"/>
          </a:p>
        </p:txBody>
      </p:sp>
      <p:sp>
        <p:nvSpPr>
          <p:cNvPr id="20" name="Text 17"/>
          <p:cNvSpPr txBox="1"/>
          <p:nvPr/>
        </p:nvSpPr>
        <p:spPr>
          <a:xfrm>
            <a:off x="6080760" y="4700016"/>
            <a:ext cx="5577840" cy="274320"/>
          </a:xfrm>
          <a:prstGeom prst="rect">
            <a:avLst/>
          </a:prstGeom>
          <a:noFill/>
          <a:ln/>
        </p:spPr>
        <p:txBody>
          <a:bodyPr wrap="square" rtlCol="0" anchor="ctr"/>
          <a:lstStyle/>
          <a:p>
            <a:pPr indent="0" marL="0">
              <a:buNone/>
            </a:pPr>
            <a:r>
              <a:rPr lang="en-US" sz="1100" dirty="0">
                <a:solidFill>
                  <a:srgbClr val="8C93A0"/>
                </a:solidFill>
                <a:latin typeface="Calibri" pitchFamily="34" charset="0"/>
                <a:ea typeface="Calibri" pitchFamily="34" charset="-122"/>
                <a:cs typeface="Calibri" pitchFamily="34" charset="-120"/>
              </a:rPr>
              <a:t>Flexibility and lending buffer</a:t>
            </a:r>
            <a:endParaRPr lang="en-US" sz="1100" dirty="0"/>
          </a:p>
        </p:txBody>
      </p:sp>
      <p:sp>
        <p:nvSpPr>
          <p:cNvPr id="21" name="Shape 18"/>
          <p:cNvSpPr/>
          <p:nvPr/>
        </p:nvSpPr>
        <p:spPr>
          <a:xfrm>
            <a:off x="5806440" y="5230368"/>
            <a:ext cx="5852160" cy="960120"/>
          </a:xfrm>
          <a:prstGeom prst="roundRect">
            <a:avLst>
              <a:gd name="adj" fmla="val 6667"/>
            </a:avLst>
          </a:prstGeom>
          <a:solidFill>
            <a:srgbClr val="F6F3EC"/>
          </a:solidFill>
          <a:ln/>
        </p:spPr>
      </p:sp>
      <p:sp>
        <p:nvSpPr>
          <p:cNvPr id="22" name="Text 19"/>
          <p:cNvSpPr txBox="1"/>
          <p:nvPr/>
        </p:nvSpPr>
        <p:spPr>
          <a:xfrm>
            <a:off x="6035040" y="5321808"/>
            <a:ext cx="5394960" cy="822960"/>
          </a:xfrm>
          <a:prstGeom prst="rect">
            <a:avLst/>
          </a:prstGeom>
          <a:noFill/>
          <a:ln/>
        </p:spPr>
        <p:txBody>
          <a:bodyPr wrap="square" rtlCol="0" anchor="ctr"/>
          <a:lstStyle/>
          <a:p>
            <a:pPr indent="0" marL="0">
              <a:lnSpc>
                <a:spcPct val="115000"/>
              </a:lnSpc>
              <a:buNone/>
            </a:pPr>
            <a:r>
              <a:rPr lang="en-US" sz="1050" i="1" dirty="0">
                <a:solidFill>
                  <a:srgbClr val="0B1B2B"/>
                </a:solidFill>
                <a:latin typeface="Calibri" pitchFamily="34" charset="0"/>
                <a:ea typeface="Calibri" pitchFamily="34" charset="-122"/>
                <a:cs typeface="Calibri" pitchFamily="34" charset="-120"/>
              </a:rPr>
              <a:t>The yacht facility is funded through securities-backed lending collateralised against Pools 1–2 and the liquidity reserve — it is a liability structure, not a separate capital allocation.</a:t>
            </a:r>
            <a:endParaRPr lang="en-US" sz="1050" dirty="0"/>
          </a:p>
        </p:txBody>
      </p:sp>
      <p:sp>
        <p:nvSpPr>
          <p:cNvPr id="23" name="Text 20"/>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4" name="Text 21"/>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01</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Capital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Multi-Generational Wealth · Concentrated Equity Exposure</a:t>
            </a:r>
            <a:endParaRPr lang="en-US" sz="1350" dirty="0"/>
          </a:p>
        </p:txBody>
      </p:sp>
      <p:sp>
        <p:nvSpPr>
          <p:cNvPr id="7" name="Text 4"/>
          <p:cNvSpPr txBox="1"/>
          <p:nvPr/>
        </p:nvSpPr>
        <p:spPr>
          <a:xfrm>
            <a:off x="457200" y="1783080"/>
            <a:ext cx="612648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12648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Preserve and compound the family's core concentrated equity position across generations, without forced diversification eroding long-run value.</a:t>
            </a:r>
            <a:endParaRPr lang="en-US" sz="1300" dirty="0"/>
          </a:p>
        </p:txBody>
      </p:sp>
      <p:sp>
        <p:nvSpPr>
          <p:cNvPr id="9" name="Text 6"/>
          <p:cNvSpPr txBox="1"/>
          <p:nvPr/>
        </p:nvSpPr>
        <p:spPr>
          <a:xfrm>
            <a:off x="457200" y="2788920"/>
            <a:ext cx="6126480" cy="320040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Hold the core position for the long term; avoid unnecessary taxable realisation events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Manage concentration risk with collars, protective puts or exchange funds rather than outright sales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Ring-fence the holding inside a multi-generational trust for succession and estate efficiency</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Fund incremental diversification from dividends and option premium, not core capital</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Formal concentration-risk and hedge review with the Investment Committee at least annually</a:t>
            </a:r>
            <a:endParaRPr lang="en-US" sz="1250" dirty="0"/>
          </a:p>
        </p:txBody>
      </p:sp>
      <p:sp>
        <p:nvSpPr>
          <p:cNvPr id="10" name="Shape 7"/>
          <p:cNvSpPr/>
          <p:nvPr/>
        </p:nvSpPr>
        <p:spPr>
          <a:xfrm>
            <a:off x="690372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20+ yrs</a:t>
            </a:r>
            <a:endParaRPr lang="en-US" sz="2600" dirty="0"/>
          </a:p>
        </p:txBody>
      </p:sp>
      <p:sp>
        <p:nvSpPr>
          <p:cNvPr id="12" name="Text 9"/>
          <p:cNvSpPr txBox="1"/>
          <p:nvPr/>
        </p:nvSpPr>
        <p:spPr>
          <a:xfrm>
            <a:off x="706831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holding horizon</a:t>
            </a:r>
            <a:endParaRPr lang="en-US" sz="1050" dirty="0"/>
          </a:p>
        </p:txBody>
      </p:sp>
      <p:sp>
        <p:nvSpPr>
          <p:cNvPr id="13" name="Shape 10"/>
          <p:cNvSpPr/>
          <p:nvPr/>
        </p:nvSpPr>
        <p:spPr>
          <a:xfrm>
            <a:off x="9372600" y="1783080"/>
            <a:ext cx="2331720" cy="1417320"/>
          </a:xfrm>
          <a:prstGeom prst="roundRect">
            <a:avLst>
              <a:gd name="adj" fmla="val 5161"/>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85039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Trust-Held</a:t>
            </a:r>
            <a:endParaRPr lang="en-US" sz="2600" dirty="0"/>
          </a:p>
        </p:txBody>
      </p:sp>
      <p:sp>
        <p:nvSpPr>
          <p:cNvPr id="15" name="Text 12"/>
          <p:cNvSpPr txBox="1"/>
          <p:nvPr/>
        </p:nvSpPr>
        <p:spPr>
          <a:xfrm>
            <a:off x="9537192" y="277977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Succession structuring vehicle</a:t>
            </a:r>
            <a:endParaRPr lang="en-US" sz="1050" dirty="0"/>
          </a:p>
        </p:txBody>
      </p:sp>
      <p:sp>
        <p:nvSpPr>
          <p:cNvPr id="16" name="Shape 13"/>
          <p:cNvSpPr/>
          <p:nvPr/>
        </p:nvSpPr>
        <p:spPr>
          <a:xfrm>
            <a:off x="6903720" y="3703320"/>
            <a:ext cx="4800600" cy="2286000"/>
          </a:xfrm>
          <a:prstGeom prst="roundRect">
            <a:avLst>
              <a:gd name="adj" fmla="val 3200"/>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32320" y="3886200"/>
            <a:ext cx="4343400" cy="274320"/>
          </a:xfrm>
          <a:prstGeom prst="rect">
            <a:avLst/>
          </a:prstGeom>
          <a:noFill/>
          <a:ln/>
        </p:spPr>
        <p:txBody>
          <a:bodyPr wrap="square" rtlCol="0" anchor="ctr"/>
          <a:lstStyle/>
          <a:p>
            <a:pPr indent="0" marL="0">
              <a:buNone/>
            </a:pPr>
            <a:r>
              <a:rPr lang="en-US" sz="1250" b="1" dirty="0">
                <a:solidFill>
                  <a:srgbClr val="0B1B2B"/>
                </a:solidFill>
                <a:latin typeface="Cambria" pitchFamily="34" charset="0"/>
                <a:ea typeface="Cambria" pitchFamily="34" charset="-122"/>
                <a:cs typeface="Cambria" pitchFamily="34" charset="-120"/>
              </a:rPr>
              <a:t>Structuring for succession</a:t>
            </a:r>
            <a:endParaRPr lang="en-US" sz="1250" dirty="0"/>
          </a:p>
        </p:txBody>
      </p:sp>
      <p:sp>
        <p:nvSpPr>
          <p:cNvPr id="18" name="Shape 15"/>
          <p:cNvSpPr/>
          <p:nvPr/>
        </p:nvSpPr>
        <p:spPr>
          <a:xfrm>
            <a:off x="7406640" y="4663440"/>
            <a:ext cx="777240" cy="777240"/>
          </a:xfrm>
          <a:prstGeom prst="ellipse">
            <a:avLst/>
          </a:prstGeom>
          <a:solidFill>
            <a:srgbClr val="0B1B2B"/>
          </a:solidFill>
          <a:ln/>
        </p:spPr>
      </p:sp>
      <p:sp>
        <p:nvSpPr>
          <p:cNvPr id="19" name="Text 16"/>
          <p:cNvSpPr txBox="1"/>
          <p:nvPr/>
        </p:nvSpPr>
        <p:spPr>
          <a:xfrm>
            <a:off x="740664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1</a:t>
            </a:r>
            <a:endParaRPr lang="en-US" sz="1800" dirty="0"/>
          </a:p>
        </p:txBody>
      </p:sp>
      <p:sp>
        <p:nvSpPr>
          <p:cNvPr id="20" name="Text 17"/>
          <p:cNvSpPr txBox="1"/>
          <p:nvPr/>
        </p:nvSpPr>
        <p:spPr>
          <a:xfrm>
            <a:off x="704088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Founding</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1" name="Shape 18"/>
          <p:cNvSpPr/>
          <p:nvPr/>
        </p:nvSpPr>
        <p:spPr>
          <a:xfrm>
            <a:off x="8183880" y="5052060"/>
            <a:ext cx="731520" cy="0"/>
          </a:xfrm>
          <a:prstGeom prst="line">
            <a:avLst/>
          </a:prstGeom>
          <a:noFill/>
          <a:ln w="22225">
            <a:solidFill>
              <a:srgbClr val="C6A15B"/>
            </a:solidFill>
            <a:prstDash val="solid"/>
            <a:tailEnd type="triangle"/>
          </a:ln>
        </p:spPr>
      </p:sp>
      <p:sp>
        <p:nvSpPr>
          <p:cNvPr id="22" name="Shape 19"/>
          <p:cNvSpPr/>
          <p:nvPr/>
        </p:nvSpPr>
        <p:spPr>
          <a:xfrm>
            <a:off x="8915400" y="4663440"/>
            <a:ext cx="777240" cy="777240"/>
          </a:xfrm>
          <a:prstGeom prst="ellipse">
            <a:avLst/>
          </a:prstGeom>
          <a:solidFill>
            <a:srgbClr val="0B1B2B"/>
          </a:solidFill>
          <a:ln/>
        </p:spPr>
      </p:sp>
      <p:sp>
        <p:nvSpPr>
          <p:cNvPr id="23" name="Text 20"/>
          <p:cNvSpPr txBox="1"/>
          <p:nvPr/>
        </p:nvSpPr>
        <p:spPr>
          <a:xfrm>
            <a:off x="891540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2</a:t>
            </a:r>
            <a:endParaRPr lang="en-US" sz="1800" dirty="0"/>
          </a:p>
        </p:txBody>
      </p:sp>
      <p:sp>
        <p:nvSpPr>
          <p:cNvPr id="24" name="Text 21"/>
          <p:cNvSpPr txBox="1"/>
          <p:nvPr/>
        </p:nvSpPr>
        <p:spPr>
          <a:xfrm>
            <a:off x="854964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Next</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a:t>
            </a:r>
            <a:endParaRPr lang="en-US" sz="1000" dirty="0"/>
          </a:p>
        </p:txBody>
      </p:sp>
      <p:sp>
        <p:nvSpPr>
          <p:cNvPr id="25" name="Shape 22"/>
          <p:cNvSpPr/>
          <p:nvPr/>
        </p:nvSpPr>
        <p:spPr>
          <a:xfrm>
            <a:off x="9692640" y="5052060"/>
            <a:ext cx="731520" cy="0"/>
          </a:xfrm>
          <a:prstGeom prst="line">
            <a:avLst/>
          </a:prstGeom>
          <a:noFill/>
          <a:ln w="22225">
            <a:solidFill>
              <a:srgbClr val="C6A15B"/>
            </a:solidFill>
            <a:prstDash val="solid"/>
            <a:tailEnd type="triangle"/>
          </a:ln>
        </p:spPr>
      </p:sp>
      <p:sp>
        <p:nvSpPr>
          <p:cNvPr id="26" name="Shape 23"/>
          <p:cNvSpPr/>
          <p:nvPr/>
        </p:nvSpPr>
        <p:spPr>
          <a:xfrm>
            <a:off x="10424160" y="4663440"/>
            <a:ext cx="777240" cy="777240"/>
          </a:xfrm>
          <a:prstGeom prst="ellipse">
            <a:avLst/>
          </a:prstGeom>
          <a:solidFill>
            <a:srgbClr val="0B1B2B"/>
          </a:solidFill>
          <a:ln/>
        </p:spPr>
      </p:sp>
      <p:sp>
        <p:nvSpPr>
          <p:cNvPr id="27" name="Text 24"/>
          <p:cNvSpPr txBox="1"/>
          <p:nvPr/>
        </p:nvSpPr>
        <p:spPr>
          <a:xfrm>
            <a:off x="10424160" y="4663440"/>
            <a:ext cx="777240" cy="777240"/>
          </a:xfrm>
          <a:prstGeom prst="rect">
            <a:avLst/>
          </a:prstGeom>
          <a:noFill/>
          <a:ln/>
        </p:spPr>
        <p:txBody>
          <a:bodyPr wrap="square" rtlCol="0" anchor="ctr"/>
          <a:lstStyle/>
          <a:p>
            <a:pPr algn="ctr" indent="0" marL="0">
              <a:buNone/>
            </a:pPr>
            <a:r>
              <a:rPr lang="en-US" sz="1800" b="1" dirty="0">
                <a:solidFill>
                  <a:srgbClr val="C6A15B"/>
                </a:solidFill>
                <a:latin typeface="Cambria" pitchFamily="34" charset="0"/>
                <a:ea typeface="Cambria" pitchFamily="34" charset="-122"/>
                <a:cs typeface="Cambria" pitchFamily="34" charset="-120"/>
              </a:rPr>
              <a:t>3</a:t>
            </a:r>
            <a:endParaRPr lang="en-US" sz="1800" dirty="0"/>
          </a:p>
        </p:txBody>
      </p:sp>
      <p:sp>
        <p:nvSpPr>
          <p:cNvPr id="28" name="Text 25"/>
          <p:cNvSpPr txBox="1"/>
          <p:nvPr/>
        </p:nvSpPr>
        <p:spPr>
          <a:xfrm>
            <a:off x="10058400" y="5513832"/>
            <a:ext cx="1508760" cy="457200"/>
          </a:xfrm>
          <a:prstGeom prst="rect">
            <a:avLst/>
          </a:prstGeom>
          <a:noFill/>
          <a:ln/>
        </p:spPr>
        <p:txBody>
          <a:bodyPr wrap="square" rtlCol="0" anchor="ctr"/>
          <a:lstStyle/>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Future</a:t>
            </a:r>
            <a:endParaRPr lang="en-US" sz="1000" dirty="0"/>
          </a:p>
          <a:p>
            <a:pPr algn="ctr" indent="0" marL="0">
              <a:lnSpc>
                <a:spcPct val="100000"/>
              </a:lnSpc>
              <a:buNone/>
            </a:pPr>
            <a:r>
              <a:rPr lang="en-US" sz="1000" dirty="0">
                <a:solidFill>
                  <a:srgbClr val="0B1B2B"/>
                </a:solidFill>
                <a:latin typeface="Calibri" pitchFamily="34" charset="0"/>
                <a:ea typeface="Calibri" pitchFamily="34" charset="-122"/>
                <a:cs typeface="Calibri" pitchFamily="34" charset="-120"/>
              </a:rPr>
              <a:t>Generations</a:t>
            </a:r>
            <a:endParaRPr lang="en-US" sz="1000" dirty="0"/>
          </a:p>
        </p:txBody>
      </p:sp>
      <p:sp>
        <p:nvSpPr>
          <p:cNvPr id="29" name="Text 2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0" name="Text 2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02</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Stable Yield &amp; Growth</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The Core Portfolio · Target 7.5% p.a. Total Return</a:t>
            </a:r>
            <a:endParaRPr lang="en-US" sz="1350" dirty="0"/>
          </a:p>
        </p:txBody>
      </p:sp>
      <p:sp>
        <p:nvSpPr>
          <p:cNvPr id="7" name="Text 4"/>
          <p:cNvSpPr txBox="1"/>
          <p:nvPr/>
        </p:nvSpPr>
        <p:spPr>
          <a:xfrm>
            <a:off x="457200" y="1783080"/>
            <a:ext cx="594360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594360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 diversified, liquid core portfolio blending income and growth to deliver a consistent 7.5% p.a. total return through market cycles.</a:t>
            </a:r>
            <a:endParaRPr lang="en-US" sz="1300" dirty="0"/>
          </a:p>
        </p:txBody>
      </p:sp>
      <p:sp>
        <p:nvSpPr>
          <p:cNvPr id="9" name="Text 6"/>
          <p:cNvSpPr txBox="1"/>
          <p:nvPr/>
        </p:nvSpPr>
        <p:spPr>
          <a:xfrm>
            <a:off x="457200" y="2651760"/>
            <a:ext cx="5943600" cy="2103120"/>
          </a:xfrm>
          <a:prstGeom prst="rect">
            <a:avLst/>
          </a:prstGeom>
          <a:noFill/>
          <a:ln/>
        </p:spPr>
        <p:txBody>
          <a:bodyPr wrap="square" rtlCol="0" anchor="t"/>
          <a:lstStyle/>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Global multi-asset mandate spanning equities, credit, real assets and diversifying strategies</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Disciplined rebalancing bands to harvest volatility and control drift</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Income sleeve engineered to service the Pool 3 lending facility</a:t>
            </a:r>
            <a:endParaRPr lang="en-US" sz="1200" dirty="0"/>
          </a:p>
          <a:p>
            <a:pPr marL="177800" indent="-177800">
              <a:lnSpc>
                <a:spcPct val="115000"/>
              </a:lnSpc>
              <a:spcAft>
                <a:spcPts val="600"/>
              </a:spcAft>
              <a:buSzPct val="100000"/>
              <a:buChar char="●"/>
            </a:pPr>
            <a:r>
              <a:rPr lang="en-US" sz="1200" dirty="0">
                <a:solidFill>
                  <a:srgbClr val="0B1B2B"/>
                </a:solidFill>
                <a:latin typeface="Calibri" pitchFamily="34" charset="0"/>
                <a:ea typeface="Calibri" pitchFamily="34" charset="-122"/>
                <a:cs typeface="Calibri" pitchFamily="34" charset="-120"/>
              </a:rPr>
              <a:t>Quarterly performance review against the 7.5% p.a. hurdle and peer benchmarks</a:t>
            </a:r>
            <a:endParaRPr lang="en-US" sz="1200" dirty="0"/>
          </a:p>
        </p:txBody>
      </p:sp>
      <p:sp>
        <p:nvSpPr>
          <p:cNvPr id="10" name="Shape 7"/>
          <p:cNvSpPr/>
          <p:nvPr/>
        </p:nvSpPr>
        <p:spPr>
          <a:xfrm>
            <a:off x="6903720" y="1783080"/>
            <a:ext cx="224028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191109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7.5%</a:t>
            </a:r>
            <a:endParaRPr lang="en-US" sz="2600" dirty="0"/>
          </a:p>
        </p:txBody>
      </p:sp>
      <p:sp>
        <p:nvSpPr>
          <p:cNvPr id="12" name="Text 9"/>
          <p:cNvSpPr txBox="1"/>
          <p:nvPr/>
        </p:nvSpPr>
        <p:spPr>
          <a:xfrm>
            <a:off x="7068312" y="2596896"/>
            <a:ext cx="191109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Target return p.a.</a:t>
            </a:r>
            <a:endParaRPr lang="en-US" sz="1050" dirty="0"/>
          </a:p>
        </p:txBody>
      </p:sp>
      <p:graphicFrame>
        <p:nvGraphicFramePr>
          <p:cNvPr id="13" name="Chart 0" descr=""/>
          <p:cNvGraphicFramePr/>
          <p:nvPr/>
        </p:nvGraphicFramePr>
        <p:xfrm>
          <a:off x="9235440" y="1783080"/>
          <a:ext cx="2468880" cy="233172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txBox="1"/>
          <p:nvPr/>
        </p:nvSpPr>
        <p:spPr>
          <a:xfrm>
            <a:off x="457200" y="5074920"/>
            <a:ext cx="4572000" cy="274320"/>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Asset Mix</a:t>
            </a:r>
            <a:endParaRPr lang="en-US" sz="1300" dirty="0"/>
          </a:p>
        </p:txBody>
      </p:sp>
      <p:graphicFrame>
        <p:nvGraphicFramePr>
          <p:cNvPr id="15" name="Chart 1" descr=""/>
          <p:cNvGraphicFramePr/>
          <p:nvPr/>
        </p:nvGraphicFramePr>
        <p:xfrm>
          <a:off x="457200" y="5367528"/>
          <a:ext cx="11247120" cy="1188720"/>
        </p:xfrm>
        <a:graphic xmlns:a="http://schemas.openxmlformats.org/drawingml/2006/main">
          <a:graphicData uri="http://schemas.openxmlformats.org/drawingml/2006/chart">
            <c:chart xmlns:c="http://schemas.openxmlformats.org/drawingml/2006/chart" r:id="rId3"/>
          </a:graphicData>
        </a:graphic>
      </p:graphicFrame>
      <p:sp>
        <p:nvSpPr>
          <p:cNvPr id="16" name="Text 11"/>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7" name="Text 12"/>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03</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Yacht Acquisition &amp; Running Costs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A Lending-Led Solution · Solving for the Facility, Not a Sale</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Fund the yacht purchase and its ongoing running costs by blending two lending levers, preserving Pools 1 and 2 to keep compounding uninterrupted.</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Fund the purchase by blending two lending levers rather than drawing on a single source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Portfolio margin (Lombard) facility collateralised against Pools 1–2 and the liquidity reserve, typically ~30% LTV</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Marine mortgage collateralised directly against the vessel itself, available up to ~50% LTV — freeing up portfolio margin headroom</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Running costs (crew, maintenance, insurance, berthing), roughly 10% of vessel value p.a., drawn as a revolving line, never funded from core capital</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Blend, rate hedge and covenant headroom across both facilities reviewed at each Investment Committee meeting</a:t>
            </a:r>
            <a:endParaRPr lang="en-US" sz="1250" dirty="0"/>
          </a:p>
        </p:txBody>
      </p:sp>
      <p:sp>
        <p:nvSpPr>
          <p:cNvPr id="10" name="Shape 7"/>
          <p:cNvSpPr/>
          <p:nvPr/>
        </p:nvSpPr>
        <p:spPr>
          <a:xfrm>
            <a:off x="6903720" y="1783080"/>
            <a:ext cx="233172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1" name="Text 8"/>
          <p:cNvSpPr txBox="1"/>
          <p:nvPr/>
        </p:nvSpPr>
        <p:spPr>
          <a:xfrm>
            <a:off x="7068312" y="1892808"/>
            <a:ext cx="200253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~30%</a:t>
            </a:r>
            <a:endParaRPr lang="en-US" sz="2600" dirty="0"/>
          </a:p>
        </p:txBody>
      </p:sp>
      <p:sp>
        <p:nvSpPr>
          <p:cNvPr id="12" name="Text 9"/>
          <p:cNvSpPr txBox="1"/>
          <p:nvPr/>
        </p:nvSpPr>
        <p:spPr>
          <a:xfrm>
            <a:off x="7068312" y="259689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Portfolio margin loan LTV</a:t>
            </a:r>
            <a:endParaRPr lang="en-US" sz="1050" dirty="0"/>
          </a:p>
        </p:txBody>
      </p:sp>
      <p:sp>
        <p:nvSpPr>
          <p:cNvPr id="13" name="Shape 10"/>
          <p:cNvSpPr/>
          <p:nvPr/>
        </p:nvSpPr>
        <p:spPr>
          <a:xfrm>
            <a:off x="9372600" y="1783080"/>
            <a:ext cx="2331720" cy="1234440"/>
          </a:xfrm>
          <a:prstGeom prst="roundRect">
            <a:avLst>
              <a:gd name="adj" fmla="val 5926"/>
            </a:avLst>
          </a:prstGeom>
          <a:solidFill>
            <a:srgbClr val="0B1B2B"/>
          </a:solidFill>
          <a:ln/>
          <a:effectLst>
            <a:outerShdw sx="100000" sy="100000" kx="0" ky="0" algn="bl" rotWithShape="0" blurRad="101600" dist="38100" dir="5400000">
              <a:srgbClr val="071320">
                <a:alpha val="25000"/>
              </a:srgbClr>
            </a:outerShdw>
          </a:effectLst>
        </p:spPr>
      </p:sp>
      <p:sp>
        <p:nvSpPr>
          <p:cNvPr id="14" name="Text 11"/>
          <p:cNvSpPr txBox="1"/>
          <p:nvPr/>
        </p:nvSpPr>
        <p:spPr>
          <a:xfrm>
            <a:off x="9537192" y="1892808"/>
            <a:ext cx="2002536" cy="667512"/>
          </a:xfrm>
          <a:prstGeom prst="rect">
            <a:avLst/>
          </a:prstGeom>
          <a:noFill/>
          <a:ln/>
        </p:spPr>
        <p:txBody>
          <a:bodyPr wrap="square" rtlCol="0" anchor="b"/>
          <a:lstStyle/>
          <a:p>
            <a:pPr algn="l" indent="0" marL="0">
              <a:buNone/>
            </a:pPr>
            <a:r>
              <a:rPr lang="en-US" sz="2600" b="1" dirty="0">
                <a:solidFill>
                  <a:srgbClr val="C6A15B"/>
                </a:solidFill>
                <a:latin typeface="Cambria" pitchFamily="34" charset="0"/>
                <a:ea typeface="Cambria" pitchFamily="34" charset="-122"/>
                <a:cs typeface="Cambria" pitchFamily="34" charset="-120"/>
              </a:rPr>
              <a:t>~50%</a:t>
            </a:r>
            <a:endParaRPr lang="en-US" sz="2600" dirty="0"/>
          </a:p>
        </p:txBody>
      </p:sp>
      <p:sp>
        <p:nvSpPr>
          <p:cNvPr id="15" name="Text 12"/>
          <p:cNvSpPr txBox="1"/>
          <p:nvPr/>
        </p:nvSpPr>
        <p:spPr>
          <a:xfrm>
            <a:off x="9537192" y="2596896"/>
            <a:ext cx="2002536" cy="365760"/>
          </a:xfrm>
          <a:prstGeom prst="rect">
            <a:avLst/>
          </a:prstGeom>
          <a:noFill/>
          <a:ln/>
        </p:spPr>
        <p:txBody>
          <a:bodyPr wrap="square" rtlCol="0" anchor="t"/>
          <a:lstStyle/>
          <a:p>
            <a:pPr algn="l" indent="0" marL="0">
              <a:buNone/>
            </a:pPr>
            <a:r>
              <a:rPr lang="en-US" sz="1050" dirty="0">
                <a:solidFill>
                  <a:srgbClr val="F6F3EC"/>
                </a:solidFill>
                <a:latin typeface="Calibri" pitchFamily="34" charset="0"/>
                <a:ea typeface="Calibri" pitchFamily="34" charset="-122"/>
                <a:cs typeface="Calibri" pitchFamily="34" charset="-120"/>
              </a:rPr>
              <a:t>Yacht-secured loan LTV</a:t>
            </a:r>
            <a:endParaRPr lang="en-US" sz="1050" dirty="0"/>
          </a:p>
        </p:txBody>
      </p:sp>
      <p:sp>
        <p:nvSpPr>
          <p:cNvPr id="16" name="Shape 13"/>
          <p:cNvSpPr/>
          <p:nvPr/>
        </p:nvSpPr>
        <p:spPr>
          <a:xfrm>
            <a:off x="6903720" y="3108960"/>
            <a:ext cx="4800600" cy="3291840"/>
          </a:xfrm>
          <a:prstGeom prst="roundRect">
            <a:avLst>
              <a:gd name="adj" fmla="val 2222"/>
            </a:avLst>
          </a:prstGeom>
          <a:solidFill>
            <a:srgbClr val="FFFFFF"/>
          </a:solidFill>
          <a:ln w="12700">
            <a:solidFill>
              <a:srgbClr val="E3DFD3"/>
            </a:solidFill>
            <a:prstDash val="solid"/>
          </a:ln>
          <a:effectLst>
            <a:outerShdw sx="100000" sy="100000" kx="0" ky="0" algn="bl" rotWithShape="0" blurRad="101600" dist="38100" dir="5400000">
              <a:srgbClr val="071320">
                <a:alpha val="25000"/>
              </a:srgbClr>
            </a:outerShdw>
          </a:effectLst>
        </p:spPr>
      </p:sp>
      <p:sp>
        <p:nvSpPr>
          <p:cNvPr id="17" name="Text 14"/>
          <p:cNvSpPr txBox="1"/>
          <p:nvPr/>
        </p:nvSpPr>
        <p:spPr>
          <a:xfrm>
            <a:off x="7159752" y="3273552"/>
            <a:ext cx="4288536" cy="274320"/>
          </a:xfrm>
          <a:prstGeom prst="rect">
            <a:avLst/>
          </a:prstGeom>
          <a:noFill/>
          <a:ln/>
        </p:spPr>
        <p:txBody>
          <a:bodyPr wrap="square" rtlCol="0" anchor="ctr"/>
          <a:lstStyle/>
          <a:p>
            <a:pPr indent="0" marL="0">
              <a:buNone/>
            </a:pPr>
            <a:r>
              <a:rPr lang="en-US" sz="1250" b="1" dirty="0">
                <a:solidFill>
                  <a:srgbClr val="0B1B2B"/>
                </a:solidFill>
                <a:latin typeface="Cambria" pitchFamily="34" charset="0"/>
                <a:ea typeface="Cambria" pitchFamily="34" charset="-122"/>
                <a:cs typeface="Cambria" pitchFamily="34" charset="-120"/>
              </a:rPr>
              <a:t>Two lending levers, blended</a:t>
            </a:r>
            <a:endParaRPr lang="en-US" sz="1250" dirty="0"/>
          </a:p>
        </p:txBody>
      </p:sp>
      <p:sp>
        <p:nvSpPr>
          <p:cNvPr id="18" name="Shape 15"/>
          <p:cNvSpPr/>
          <p:nvPr/>
        </p:nvSpPr>
        <p:spPr>
          <a:xfrm>
            <a:off x="7159752" y="3648456"/>
            <a:ext cx="146304" cy="146304"/>
          </a:xfrm>
          <a:prstGeom prst="ellipse">
            <a:avLst/>
          </a:prstGeom>
          <a:solidFill>
            <a:srgbClr val="C6A15B"/>
          </a:solidFill>
          <a:ln/>
        </p:spPr>
      </p:sp>
      <p:sp>
        <p:nvSpPr>
          <p:cNvPr id="19" name="Text 16"/>
          <p:cNvSpPr txBox="1"/>
          <p:nvPr/>
        </p:nvSpPr>
        <p:spPr>
          <a:xfrm>
            <a:off x="7434072" y="3547872"/>
            <a:ext cx="3246120" cy="457200"/>
          </a:xfrm>
          <a:prstGeom prst="rect">
            <a:avLst/>
          </a:prstGeom>
          <a:noFill/>
          <a:ln/>
        </p:spPr>
        <p:txBody>
          <a:bodyPr wrap="square" lIns="0" tIns="0" rIns="0" bIns="0" rtlCol="0" anchor="ctr"/>
          <a:lstStyle/>
          <a:p>
            <a:pPr indent="0" marL="0">
              <a:lnSpc>
                <a:spcPct val="105000"/>
              </a:lnSpc>
              <a:buNone/>
            </a:pPr>
            <a:r>
              <a:rPr lang="en-US" sz="1150" b="1" dirty="0">
                <a:solidFill>
                  <a:srgbClr val="0B1B2B"/>
                </a:solidFill>
                <a:latin typeface="Calibri" pitchFamily="34" charset="0"/>
                <a:ea typeface="Calibri" pitchFamily="34" charset="-122"/>
                <a:cs typeface="Calibri" pitchFamily="34" charset="-120"/>
              </a:rPr>
              <a:t>Portfolio Margin Loan</a:t>
            </a:r>
            <a:endParaRPr lang="en-US" sz="1150" dirty="0"/>
          </a:p>
        </p:txBody>
      </p:sp>
      <p:sp>
        <p:nvSpPr>
          <p:cNvPr id="20" name="Shape 17"/>
          <p:cNvSpPr/>
          <p:nvPr/>
        </p:nvSpPr>
        <p:spPr>
          <a:xfrm>
            <a:off x="10469880" y="3547872"/>
            <a:ext cx="1005840" cy="274320"/>
          </a:xfrm>
          <a:prstGeom prst="roundRect">
            <a:avLst>
              <a:gd name="adj" fmla="val 50000"/>
            </a:avLst>
          </a:prstGeom>
          <a:solidFill>
            <a:srgbClr val="0B1B2B"/>
          </a:solidFill>
          <a:ln/>
        </p:spPr>
      </p:sp>
      <p:sp>
        <p:nvSpPr>
          <p:cNvPr id="21" name="Text 18"/>
          <p:cNvSpPr txBox="1"/>
          <p:nvPr/>
        </p:nvSpPr>
        <p:spPr>
          <a:xfrm>
            <a:off x="10469880" y="3547872"/>
            <a:ext cx="1005840" cy="274320"/>
          </a:xfrm>
          <a:prstGeom prst="rect">
            <a:avLst/>
          </a:prstGeom>
          <a:noFill/>
          <a:ln/>
        </p:spPr>
        <p:txBody>
          <a:bodyPr wrap="square" rtlCol="0" anchor="ctr"/>
          <a:lstStyle/>
          <a:p>
            <a:pPr algn="ctr" indent="0" marL="0">
              <a:buNone/>
            </a:pPr>
            <a:r>
              <a:rPr lang="en-US" sz="950" b="1" dirty="0">
                <a:solidFill>
                  <a:srgbClr val="C6A15B"/>
                </a:solidFill>
                <a:latin typeface="Calibri" pitchFamily="34" charset="0"/>
                <a:ea typeface="Calibri" pitchFamily="34" charset="-122"/>
                <a:cs typeface="Calibri" pitchFamily="34" charset="-120"/>
              </a:rPr>
              <a:t>~30% LTV</a:t>
            </a:r>
            <a:endParaRPr lang="en-US" sz="950" dirty="0"/>
          </a:p>
        </p:txBody>
      </p:sp>
      <p:sp>
        <p:nvSpPr>
          <p:cNvPr id="22" name="Text 19"/>
          <p:cNvSpPr txBox="1"/>
          <p:nvPr/>
        </p:nvSpPr>
        <p:spPr>
          <a:xfrm>
            <a:off x="7434072" y="3840480"/>
            <a:ext cx="4014216" cy="457200"/>
          </a:xfrm>
          <a:prstGeom prst="rect">
            <a:avLst/>
          </a:prstGeom>
          <a:noFill/>
          <a:ln/>
        </p:spPr>
        <p:txBody>
          <a:bodyPr wrap="square" rtlCol="0" anchor="ctr"/>
          <a:lstStyle/>
          <a:p>
            <a:pPr indent="0" marL="0">
              <a:lnSpc>
                <a:spcPct val="112000"/>
              </a:lnSpc>
              <a:buNone/>
            </a:pPr>
            <a:r>
              <a:rPr lang="en-US" sz="1000" dirty="0">
                <a:solidFill>
                  <a:srgbClr val="8C93A0"/>
                </a:solidFill>
                <a:latin typeface="Calibri" pitchFamily="34" charset="0"/>
                <a:ea typeface="Calibri" pitchFamily="34" charset="-122"/>
                <a:cs typeface="Calibri" pitchFamily="34" charset="-120"/>
              </a:rPr>
              <a:t>Collateralised against Pools 1–2; lower cost, broad flexibility</a:t>
            </a:r>
            <a:endParaRPr lang="en-US" sz="1000" dirty="0"/>
          </a:p>
        </p:txBody>
      </p:sp>
      <p:sp>
        <p:nvSpPr>
          <p:cNvPr id="23" name="Shape 20"/>
          <p:cNvSpPr/>
          <p:nvPr/>
        </p:nvSpPr>
        <p:spPr>
          <a:xfrm>
            <a:off x="7159752" y="4425696"/>
            <a:ext cx="146304" cy="146304"/>
          </a:xfrm>
          <a:prstGeom prst="ellipse">
            <a:avLst/>
          </a:prstGeom>
          <a:solidFill>
            <a:srgbClr val="C6A15B"/>
          </a:solidFill>
          <a:ln/>
        </p:spPr>
      </p:sp>
      <p:sp>
        <p:nvSpPr>
          <p:cNvPr id="24" name="Text 21"/>
          <p:cNvSpPr txBox="1"/>
          <p:nvPr/>
        </p:nvSpPr>
        <p:spPr>
          <a:xfrm>
            <a:off x="7434072" y="4325112"/>
            <a:ext cx="3246120" cy="457200"/>
          </a:xfrm>
          <a:prstGeom prst="rect">
            <a:avLst/>
          </a:prstGeom>
          <a:noFill/>
          <a:ln/>
        </p:spPr>
        <p:txBody>
          <a:bodyPr wrap="square" lIns="0" tIns="0" rIns="0" bIns="0" rtlCol="0" anchor="ctr"/>
          <a:lstStyle/>
          <a:p>
            <a:pPr indent="0" marL="0">
              <a:lnSpc>
                <a:spcPct val="105000"/>
              </a:lnSpc>
              <a:buNone/>
            </a:pPr>
            <a:r>
              <a:rPr lang="en-US" sz="1150" b="1" dirty="0">
                <a:solidFill>
                  <a:srgbClr val="0B1B2B"/>
                </a:solidFill>
                <a:latin typeface="Calibri" pitchFamily="34" charset="0"/>
                <a:ea typeface="Calibri" pitchFamily="34" charset="-122"/>
                <a:cs typeface="Calibri" pitchFamily="34" charset="-120"/>
              </a:rPr>
              <a:t>Yacht-Secured Loan</a:t>
            </a:r>
            <a:endParaRPr lang="en-US" sz="1150" dirty="0"/>
          </a:p>
          <a:p>
            <a:pPr indent="0" marL="0">
              <a:lnSpc>
                <a:spcPct val="105000"/>
              </a:lnSpc>
              <a:buNone/>
            </a:pPr>
            <a:r>
              <a:rPr lang="en-US" sz="1150" b="1" dirty="0">
                <a:solidFill>
                  <a:srgbClr val="0B1B2B"/>
                </a:solidFill>
                <a:latin typeface="Calibri" pitchFamily="34" charset="0"/>
                <a:ea typeface="Calibri" pitchFamily="34" charset="-122"/>
                <a:cs typeface="Calibri" pitchFamily="34" charset="-120"/>
              </a:rPr>
              <a:t>(Marine Mortgage)</a:t>
            </a:r>
            <a:endParaRPr lang="en-US" sz="1150" dirty="0"/>
          </a:p>
        </p:txBody>
      </p:sp>
      <p:sp>
        <p:nvSpPr>
          <p:cNvPr id="25" name="Shape 22"/>
          <p:cNvSpPr/>
          <p:nvPr/>
        </p:nvSpPr>
        <p:spPr>
          <a:xfrm>
            <a:off x="10469880" y="4325112"/>
            <a:ext cx="1005840" cy="274320"/>
          </a:xfrm>
          <a:prstGeom prst="roundRect">
            <a:avLst>
              <a:gd name="adj" fmla="val 50000"/>
            </a:avLst>
          </a:prstGeom>
          <a:solidFill>
            <a:srgbClr val="0B1B2B"/>
          </a:solidFill>
          <a:ln/>
        </p:spPr>
      </p:sp>
      <p:sp>
        <p:nvSpPr>
          <p:cNvPr id="26" name="Text 23"/>
          <p:cNvSpPr txBox="1"/>
          <p:nvPr/>
        </p:nvSpPr>
        <p:spPr>
          <a:xfrm>
            <a:off x="10469880" y="4325112"/>
            <a:ext cx="1005840" cy="274320"/>
          </a:xfrm>
          <a:prstGeom prst="rect">
            <a:avLst/>
          </a:prstGeom>
          <a:noFill/>
          <a:ln/>
        </p:spPr>
        <p:txBody>
          <a:bodyPr wrap="square" rtlCol="0" anchor="ctr"/>
          <a:lstStyle/>
          <a:p>
            <a:pPr algn="ctr" indent="0" marL="0">
              <a:buNone/>
            </a:pPr>
            <a:r>
              <a:rPr lang="en-US" sz="950" b="1" dirty="0">
                <a:solidFill>
                  <a:srgbClr val="C6A15B"/>
                </a:solidFill>
                <a:latin typeface="Calibri" pitchFamily="34" charset="0"/>
                <a:ea typeface="Calibri" pitchFamily="34" charset="-122"/>
                <a:cs typeface="Calibri" pitchFamily="34" charset="-120"/>
              </a:rPr>
              <a:t>~50% LTV</a:t>
            </a:r>
            <a:endParaRPr lang="en-US" sz="950" dirty="0"/>
          </a:p>
        </p:txBody>
      </p:sp>
      <p:sp>
        <p:nvSpPr>
          <p:cNvPr id="27" name="Text 24"/>
          <p:cNvSpPr txBox="1"/>
          <p:nvPr/>
        </p:nvSpPr>
        <p:spPr>
          <a:xfrm>
            <a:off x="7434072" y="4800600"/>
            <a:ext cx="4014216" cy="457200"/>
          </a:xfrm>
          <a:prstGeom prst="rect">
            <a:avLst/>
          </a:prstGeom>
          <a:noFill/>
          <a:ln/>
        </p:spPr>
        <p:txBody>
          <a:bodyPr wrap="square" rtlCol="0" anchor="ctr"/>
          <a:lstStyle/>
          <a:p>
            <a:pPr indent="0" marL="0">
              <a:lnSpc>
                <a:spcPct val="112000"/>
              </a:lnSpc>
              <a:buNone/>
            </a:pPr>
            <a:r>
              <a:rPr lang="en-US" sz="1000" dirty="0">
                <a:solidFill>
                  <a:srgbClr val="8C93A0"/>
                </a:solidFill>
                <a:latin typeface="Calibri" pitchFamily="34" charset="0"/>
                <a:ea typeface="Calibri" pitchFamily="34" charset="-122"/>
                <a:cs typeface="Calibri" pitchFamily="34" charset="-120"/>
              </a:rPr>
              <a:t>Collateralised against the vessel itself; frees portfolio margin headroom</a:t>
            </a:r>
            <a:endParaRPr lang="en-US" sz="1000" dirty="0"/>
          </a:p>
        </p:txBody>
      </p:sp>
      <p:sp>
        <p:nvSpPr>
          <p:cNvPr id="28" name="Shape 25"/>
          <p:cNvSpPr/>
          <p:nvPr/>
        </p:nvSpPr>
        <p:spPr>
          <a:xfrm>
            <a:off x="7159752" y="5285232"/>
            <a:ext cx="4288536" cy="0"/>
          </a:xfrm>
          <a:prstGeom prst="line">
            <a:avLst/>
          </a:prstGeom>
          <a:noFill/>
          <a:ln w="12700">
            <a:solidFill>
              <a:srgbClr val="E3DFD3"/>
            </a:solidFill>
            <a:prstDash val="solid"/>
          </a:ln>
        </p:spPr>
      </p:sp>
      <p:sp>
        <p:nvSpPr>
          <p:cNvPr id="29" name="Text 26"/>
          <p:cNvSpPr txBox="1"/>
          <p:nvPr/>
        </p:nvSpPr>
        <p:spPr>
          <a:xfrm>
            <a:off x="7159752" y="5413248"/>
            <a:ext cx="4288536" cy="777240"/>
          </a:xfrm>
          <a:prstGeom prst="rect">
            <a:avLst/>
          </a:prstGeom>
          <a:noFill/>
          <a:ln/>
        </p:spPr>
        <p:txBody>
          <a:bodyPr wrap="square" lIns="0" tIns="0" rIns="0" bIns="0" rtlCol="0" anchor="ctr"/>
          <a:lstStyle/>
          <a:p>
            <a:pPr indent="0" marL="0">
              <a:lnSpc>
                <a:spcPct val="118000"/>
              </a:lnSpc>
              <a:buNone/>
            </a:pPr>
            <a:r>
              <a:rPr lang="en-US" sz="950" i="1" dirty="0">
                <a:solidFill>
                  <a:srgbClr val="8C93A0"/>
                </a:solidFill>
                <a:latin typeface="Calibri" pitchFamily="34" charset="0"/>
                <a:ea typeface="Calibri" pitchFamily="34" charset="-122"/>
                <a:cs typeface="Calibri" pitchFamily="34" charset="-120"/>
              </a:rPr>
              <a:t>Both facilities can be drawn together — the marine mortgage funds the bulk of the purchase at the higher LTV, with the portfolio margin line as a flexible top-up. Interest and running costs are serviced from Pool 2 income; core capital is never drawn down.</a:t>
            </a:r>
            <a:endParaRPr lang="en-US" sz="950" dirty="0"/>
          </a:p>
        </p:txBody>
      </p:sp>
      <p:sp>
        <p:nvSpPr>
          <p:cNvPr id="30" name="Text 27"/>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1" name="Text 28"/>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04</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Opportunistic &amp; Private Markets</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Proprietary Deal Flow · Private Equity, Venture &amp; Direct Co-Investment</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Access differentiated, less-correlated returns through disciplined, network-sourced private market deployment.</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Proprietary deal flow sourced through the family's network, co-investors and sponsor relationships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Target net IRR of 15–20%+, underwritten with the same rigour as a control investment</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Illiquidity budget hard-capped at 20% of NAV, paced across vintages to smooth capital calls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 every deal is referred back to the Investment Committee before commitment</a:t>
            </a:r>
            <a:endParaRPr lang="en-US" sz="1250" dirty="0"/>
          </a:p>
        </p:txBody>
      </p:sp>
      <p:sp>
        <p:nvSpPr>
          <p:cNvPr id="10" name="Shape 7"/>
          <p:cNvSpPr/>
          <p:nvPr/>
        </p:nvSpPr>
        <p:spPr>
          <a:xfrm>
            <a:off x="690372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1" name="Shape 8"/>
          <p:cNvSpPr/>
          <p:nvPr/>
        </p:nvSpPr>
        <p:spPr>
          <a:xfrm>
            <a:off x="7086600" y="1965960"/>
            <a:ext cx="420624" cy="420624"/>
          </a:xfrm>
          <a:prstGeom prst="ellipse">
            <a:avLst/>
          </a:prstGeom>
          <a:solidFill>
            <a:srgbClr val="C6A15B"/>
          </a:solidFill>
          <a:ln/>
        </p:spPr>
      </p:sp>
      <p:pic>
        <p:nvPicPr>
          <p:cNvPr id="12" name="Image 1" descr="preencoded.png">    </p:cNvPr>
          <p:cNvPicPr>
            <a:picLocks noChangeAspect="1"/>
          </p:cNvPicPr>
          <p:nvPr/>
        </p:nvPicPr>
        <p:blipFill>
          <a:blip r:embed="rId2"/>
          <a:stretch>
            <a:fillRect/>
          </a:stretch>
        </p:blipFill>
        <p:spPr>
          <a:xfrm>
            <a:off x="7141281" y="2020641"/>
            <a:ext cx="311262" cy="311262"/>
          </a:xfrm>
          <a:prstGeom prst="rect">
            <a:avLst/>
          </a:prstGeom>
        </p:spPr>
      </p:pic>
      <p:sp>
        <p:nvSpPr>
          <p:cNvPr id="13" name="Text 9"/>
          <p:cNvSpPr txBox="1"/>
          <p:nvPr/>
        </p:nvSpPr>
        <p:spPr>
          <a:xfrm>
            <a:off x="708660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Private Equity</a:t>
            </a:r>
            <a:endParaRPr lang="en-US" sz="1200" dirty="0"/>
          </a:p>
        </p:txBody>
      </p:sp>
      <p:sp>
        <p:nvSpPr>
          <p:cNvPr id="14" name="Text 10"/>
          <p:cNvSpPr txBox="1"/>
          <p:nvPr/>
        </p:nvSpPr>
        <p:spPr>
          <a:xfrm>
            <a:off x="708660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Growth &amp; buyout co-investment alongside trusted sponsors</a:t>
            </a:r>
            <a:endParaRPr lang="en-US" sz="950" dirty="0"/>
          </a:p>
        </p:txBody>
      </p:sp>
      <p:sp>
        <p:nvSpPr>
          <p:cNvPr id="15" name="Shape 11"/>
          <p:cNvSpPr/>
          <p:nvPr/>
        </p:nvSpPr>
        <p:spPr>
          <a:xfrm>
            <a:off x="9372600" y="178308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16" name="Shape 12"/>
          <p:cNvSpPr/>
          <p:nvPr/>
        </p:nvSpPr>
        <p:spPr>
          <a:xfrm>
            <a:off x="9555480" y="1965960"/>
            <a:ext cx="420624" cy="420624"/>
          </a:xfrm>
          <a:prstGeom prst="ellipse">
            <a:avLst/>
          </a:prstGeom>
          <a:solidFill>
            <a:srgbClr val="C6A15B"/>
          </a:solidFill>
          <a:ln/>
        </p:spPr>
      </p:sp>
      <p:pic>
        <p:nvPicPr>
          <p:cNvPr id="17" name="Image 2" descr="preencoded.png">    </p:cNvPr>
          <p:cNvPicPr>
            <a:picLocks noChangeAspect="1"/>
          </p:cNvPicPr>
          <p:nvPr/>
        </p:nvPicPr>
        <p:blipFill>
          <a:blip r:embed="rId3"/>
          <a:stretch>
            <a:fillRect/>
          </a:stretch>
        </p:blipFill>
        <p:spPr>
          <a:xfrm>
            <a:off x="9610161" y="2020641"/>
            <a:ext cx="311262" cy="311262"/>
          </a:xfrm>
          <a:prstGeom prst="rect">
            <a:avLst/>
          </a:prstGeom>
        </p:spPr>
      </p:pic>
      <p:sp>
        <p:nvSpPr>
          <p:cNvPr id="18" name="Text 13"/>
          <p:cNvSpPr txBox="1"/>
          <p:nvPr/>
        </p:nvSpPr>
        <p:spPr>
          <a:xfrm>
            <a:off x="9555480" y="246888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Venture Co-Investment</a:t>
            </a:r>
            <a:endParaRPr lang="en-US" sz="1200" dirty="0"/>
          </a:p>
        </p:txBody>
      </p:sp>
      <p:sp>
        <p:nvSpPr>
          <p:cNvPr id="19" name="Text 14"/>
          <p:cNvSpPr txBox="1"/>
          <p:nvPr/>
        </p:nvSpPr>
        <p:spPr>
          <a:xfrm>
            <a:off x="9555480" y="275234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Direct stakes alongside lead venture investors</a:t>
            </a:r>
            <a:endParaRPr lang="en-US" sz="950" dirty="0"/>
          </a:p>
        </p:txBody>
      </p:sp>
      <p:sp>
        <p:nvSpPr>
          <p:cNvPr id="20" name="Shape 15"/>
          <p:cNvSpPr/>
          <p:nvPr/>
        </p:nvSpPr>
        <p:spPr>
          <a:xfrm>
            <a:off x="690372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1" name="Shape 16"/>
          <p:cNvSpPr/>
          <p:nvPr/>
        </p:nvSpPr>
        <p:spPr>
          <a:xfrm>
            <a:off x="7086600" y="3703320"/>
            <a:ext cx="420624" cy="420624"/>
          </a:xfrm>
          <a:prstGeom prst="ellipse">
            <a:avLst/>
          </a:prstGeom>
          <a:solidFill>
            <a:srgbClr val="C6A15B"/>
          </a:solidFill>
          <a:ln/>
        </p:spPr>
      </p:sp>
      <p:pic>
        <p:nvPicPr>
          <p:cNvPr id="22" name="Image 3" descr="preencoded.png">    </p:cNvPr>
          <p:cNvPicPr>
            <a:picLocks noChangeAspect="1"/>
          </p:cNvPicPr>
          <p:nvPr/>
        </p:nvPicPr>
        <p:blipFill>
          <a:blip r:embed="rId4"/>
          <a:stretch>
            <a:fillRect/>
          </a:stretch>
        </p:blipFill>
        <p:spPr>
          <a:xfrm>
            <a:off x="7141281" y="3758001"/>
            <a:ext cx="311262" cy="311262"/>
          </a:xfrm>
          <a:prstGeom prst="rect">
            <a:avLst/>
          </a:prstGeom>
        </p:spPr>
      </p:pic>
      <p:sp>
        <p:nvSpPr>
          <p:cNvPr id="23" name="Text 17"/>
          <p:cNvSpPr txBox="1"/>
          <p:nvPr/>
        </p:nvSpPr>
        <p:spPr>
          <a:xfrm>
            <a:off x="708660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Direct / Club Deals</a:t>
            </a:r>
            <a:endParaRPr lang="en-US" sz="1200" dirty="0"/>
          </a:p>
        </p:txBody>
      </p:sp>
      <p:sp>
        <p:nvSpPr>
          <p:cNvPr id="24" name="Text 18"/>
          <p:cNvSpPr txBox="1"/>
          <p:nvPr/>
        </p:nvSpPr>
        <p:spPr>
          <a:xfrm>
            <a:off x="708660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Bilateral transactions sourced from the family network</a:t>
            </a:r>
            <a:endParaRPr lang="en-US" sz="950" dirty="0"/>
          </a:p>
        </p:txBody>
      </p:sp>
      <p:sp>
        <p:nvSpPr>
          <p:cNvPr id="25" name="Shape 19"/>
          <p:cNvSpPr/>
          <p:nvPr/>
        </p:nvSpPr>
        <p:spPr>
          <a:xfrm>
            <a:off x="9372600" y="3520440"/>
            <a:ext cx="2331720" cy="1600200"/>
          </a:xfrm>
          <a:prstGeom prst="roundRect">
            <a:avLst>
              <a:gd name="adj" fmla="val 4571"/>
            </a:avLst>
          </a:prstGeom>
          <a:solidFill>
            <a:srgbClr val="0B1B2B"/>
          </a:solidFill>
          <a:ln/>
          <a:effectLst>
            <a:outerShdw sx="100000" sy="100000" kx="0" ky="0" algn="bl" rotWithShape="0" blurRad="101600" dist="38100" dir="5400000">
              <a:srgbClr val="071320">
                <a:alpha val="25000"/>
              </a:srgbClr>
            </a:outerShdw>
          </a:effectLst>
        </p:spPr>
      </p:sp>
      <p:sp>
        <p:nvSpPr>
          <p:cNvPr id="26" name="Shape 20"/>
          <p:cNvSpPr/>
          <p:nvPr/>
        </p:nvSpPr>
        <p:spPr>
          <a:xfrm>
            <a:off x="9555480" y="3703320"/>
            <a:ext cx="420624" cy="420624"/>
          </a:xfrm>
          <a:prstGeom prst="ellipse">
            <a:avLst/>
          </a:prstGeom>
          <a:solidFill>
            <a:srgbClr val="C6A15B"/>
          </a:solidFill>
          <a:ln/>
        </p:spPr>
      </p:sp>
      <p:pic>
        <p:nvPicPr>
          <p:cNvPr id="27" name="Image 4" descr="preencoded.png">    </p:cNvPr>
          <p:cNvPicPr>
            <a:picLocks noChangeAspect="1"/>
          </p:cNvPicPr>
          <p:nvPr/>
        </p:nvPicPr>
        <p:blipFill>
          <a:blip r:embed="rId5"/>
          <a:stretch>
            <a:fillRect/>
          </a:stretch>
        </p:blipFill>
        <p:spPr>
          <a:xfrm>
            <a:off x="9610161" y="3758001"/>
            <a:ext cx="311262" cy="311262"/>
          </a:xfrm>
          <a:prstGeom prst="rect">
            <a:avLst/>
          </a:prstGeom>
        </p:spPr>
      </p:pic>
      <p:sp>
        <p:nvSpPr>
          <p:cNvPr id="28" name="Text 21"/>
          <p:cNvSpPr txBox="1"/>
          <p:nvPr/>
        </p:nvSpPr>
        <p:spPr>
          <a:xfrm>
            <a:off x="9555480" y="4206240"/>
            <a:ext cx="1965960" cy="274320"/>
          </a:xfrm>
          <a:prstGeom prst="rect">
            <a:avLst/>
          </a:prstGeom>
          <a:noFill/>
          <a:ln/>
        </p:spPr>
        <p:txBody>
          <a:bodyPr wrap="square"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Opportunistic Real Assets</a:t>
            </a:r>
            <a:endParaRPr lang="en-US" sz="1200" dirty="0"/>
          </a:p>
        </p:txBody>
      </p:sp>
      <p:sp>
        <p:nvSpPr>
          <p:cNvPr id="29" name="Text 22"/>
          <p:cNvSpPr txBox="1"/>
          <p:nvPr/>
        </p:nvSpPr>
        <p:spPr>
          <a:xfrm>
            <a:off x="9555480" y="4489704"/>
            <a:ext cx="1965960" cy="594360"/>
          </a:xfrm>
          <a:prstGeom prst="rect">
            <a:avLst/>
          </a:prstGeom>
          <a:noFill/>
          <a:ln/>
        </p:spPr>
        <p:txBody>
          <a:bodyPr wrap="square" rtlCol="0" anchor="ctr"/>
          <a:lstStyle/>
          <a:p>
            <a:pPr indent="0" marL="0">
              <a:lnSpc>
                <a:spcPct val="110000"/>
              </a:lnSpc>
              <a:buNone/>
            </a:pPr>
            <a:r>
              <a:rPr lang="en-US" sz="950" dirty="0">
                <a:solidFill>
                  <a:srgbClr val="F6F3EC"/>
                </a:solidFill>
                <a:latin typeface="Calibri" pitchFamily="34" charset="0"/>
                <a:ea typeface="Calibri" pitchFamily="34" charset="-122"/>
                <a:cs typeface="Calibri" pitchFamily="34" charset="-120"/>
              </a:rPr>
              <a:t>Special-situation and value-add real asset positions</a:t>
            </a:r>
            <a:endParaRPr lang="en-US" sz="950" dirty="0"/>
          </a:p>
        </p:txBody>
      </p:sp>
      <p:sp>
        <p:nvSpPr>
          <p:cNvPr id="30" name="Text 23"/>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31" name="Text 24"/>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POOL 05</a:t>
            </a:r>
            <a:endParaRPr lang="en-US" sz="1100" dirty="0"/>
          </a:p>
        </p:txBody>
      </p:sp>
      <p:sp>
        <p:nvSpPr>
          <p:cNvPr id="5" name="Text 2"/>
          <p:cNvSpPr txBox="1"/>
          <p:nvPr/>
        </p:nvSpPr>
        <p:spPr>
          <a:xfrm>
            <a:off x="1207008" y="713232"/>
            <a:ext cx="10332720" cy="566928"/>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Philanthropy</a:t>
            </a:r>
            <a:endParaRPr lang="en-US" sz="3000" dirty="0"/>
          </a:p>
        </p:txBody>
      </p:sp>
      <p:sp>
        <p:nvSpPr>
          <p:cNvPr id="6" name="Text 3"/>
          <p:cNvSpPr txBox="1"/>
          <p:nvPr/>
        </p:nvSpPr>
        <p:spPr>
          <a:xfrm>
            <a:off x="1207008" y="1225296"/>
            <a:ext cx="10332720" cy="310896"/>
          </a:xfrm>
          <a:prstGeom prst="rect">
            <a:avLst/>
          </a:prstGeom>
          <a:noFill/>
          <a:ln/>
        </p:spPr>
        <p:txBody>
          <a:bodyPr wrap="square" rtlCol="0" anchor="ctr"/>
          <a:lstStyle/>
          <a:p>
            <a:pPr indent="0" marL="0">
              <a:buNone/>
            </a:pPr>
            <a:r>
              <a:rPr lang="en-US" sz="1350" i="1" dirty="0">
                <a:solidFill>
                  <a:srgbClr val="8C93A0"/>
                </a:solidFill>
                <a:latin typeface="Calibri" pitchFamily="34" charset="0"/>
                <a:ea typeface="Calibri" pitchFamily="34" charset="-122"/>
                <a:cs typeface="Calibri" pitchFamily="34" charset="-120"/>
              </a:rPr>
              <a:t>Funding the Next Generation of AI-Driven Medicine Research</a:t>
            </a:r>
            <a:endParaRPr lang="en-US" sz="1350" dirty="0"/>
          </a:p>
        </p:txBody>
      </p:sp>
      <p:sp>
        <p:nvSpPr>
          <p:cNvPr id="7" name="Text 4"/>
          <p:cNvSpPr txBox="1"/>
          <p:nvPr/>
        </p:nvSpPr>
        <p:spPr>
          <a:xfrm>
            <a:off x="457200" y="1783080"/>
            <a:ext cx="6035040" cy="274320"/>
          </a:xfrm>
          <a:prstGeom prst="rect">
            <a:avLst/>
          </a:prstGeom>
          <a:noFill/>
          <a:ln/>
        </p:spPr>
        <p:txBody>
          <a:bodyPr wrap="square" rtlCol="0" anchor="ctr"/>
          <a:lstStyle/>
          <a:p>
            <a:pPr indent="0" marL="0">
              <a:buNone/>
            </a:pPr>
            <a:r>
              <a:rPr lang="en-US" sz="1400" b="1" dirty="0">
                <a:solidFill>
                  <a:srgbClr val="8C2F39"/>
                </a:solidFill>
                <a:latin typeface="Cambria" pitchFamily="34" charset="0"/>
                <a:ea typeface="Cambria" pitchFamily="34" charset="-122"/>
                <a:cs typeface="Cambria" pitchFamily="34" charset="-120"/>
              </a:rPr>
              <a:t>Objective</a:t>
            </a:r>
            <a:endParaRPr lang="en-US" sz="1400" dirty="0"/>
          </a:p>
        </p:txBody>
      </p:sp>
      <p:sp>
        <p:nvSpPr>
          <p:cNvPr id="8" name="Text 5"/>
          <p:cNvSpPr txBox="1"/>
          <p:nvPr/>
        </p:nvSpPr>
        <p:spPr>
          <a:xfrm>
            <a:off x="457200" y="2084832"/>
            <a:ext cx="6035040" cy="640080"/>
          </a:xfrm>
          <a:prstGeom prst="rect">
            <a:avLst/>
          </a:prstGeom>
          <a:noFill/>
          <a:ln/>
        </p:spPr>
        <p:txBody>
          <a:bodyPr wrap="square" rtlCol="0" anchor="ctr"/>
          <a:lstStyle/>
          <a:p>
            <a:pPr indent="0" marL="0">
              <a:lnSpc>
                <a:spcPct val="120000"/>
              </a:lnSpc>
              <a:buNone/>
            </a:pPr>
            <a:r>
              <a:rPr lang="en-US" sz="1300" dirty="0">
                <a:solidFill>
                  <a:srgbClr val="0B1B2B"/>
                </a:solidFill>
                <a:latin typeface="Calibri" pitchFamily="34" charset="0"/>
                <a:ea typeface="Calibri" pitchFamily="34" charset="-122"/>
                <a:cs typeface="Calibri" pitchFamily="34" charset="-120"/>
              </a:rPr>
              <a:t>Deploy philanthropic capital to accelerate AI-driven medical research, building a multi-generational family mission alongside the portfolio.</a:t>
            </a:r>
            <a:endParaRPr lang="en-US" sz="1300" dirty="0"/>
          </a:p>
        </p:txBody>
      </p:sp>
      <p:sp>
        <p:nvSpPr>
          <p:cNvPr id="9" name="Text 6"/>
          <p:cNvSpPr txBox="1"/>
          <p:nvPr/>
        </p:nvSpPr>
        <p:spPr>
          <a:xfrm>
            <a:off x="457200" y="2788920"/>
            <a:ext cx="6035040" cy="3291840"/>
          </a:xfrm>
          <a:prstGeom prst="rect">
            <a:avLst/>
          </a:prstGeom>
          <a:noFill/>
          <a:ln/>
        </p:spPr>
        <p:txBody>
          <a:bodyPr wrap="square" rtlCol="0" anchor="t"/>
          <a:lstStyle/>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Structured through a Private Ancillary Fund for tax-effective, perpetual giving</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Multi-year grants to AI-medicine labs — drug discovery, diagnostics and precision medicine</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Selective venture philanthropy co-funding alongside specialist medical-research investors</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Impact tracked against research milestones, not just dollars deployed</a:t>
            </a:r>
            <a:endParaRPr lang="en-US" sz="1250" dirty="0"/>
          </a:p>
          <a:p>
            <a:pPr marL="177800" indent="-177800">
              <a:lnSpc>
                <a:spcPct val="115000"/>
              </a:lnSpc>
              <a:spcAft>
                <a:spcPts val="900"/>
              </a:spcAft>
              <a:buSzPct val="100000"/>
              <a:buChar char="●"/>
            </a:pPr>
            <a:r>
              <a:rPr lang="en-US" sz="1250" dirty="0">
                <a:solidFill>
                  <a:srgbClr val="0B1B2B"/>
                </a:solidFill>
                <a:latin typeface="Calibri" pitchFamily="34" charset="0"/>
                <a:ea typeface="Calibri" pitchFamily="34" charset="-122"/>
                <a:cs typeface="Calibri" pitchFamily="34" charset="-120"/>
              </a:rPr>
              <a:t>Next-generation family members sit on the grant-making committee — purpose as succession</a:t>
            </a:r>
            <a:endParaRPr lang="en-US" sz="1250" dirty="0"/>
          </a:p>
        </p:txBody>
      </p:sp>
      <p:sp>
        <p:nvSpPr>
          <p:cNvPr id="10" name="Text 7"/>
          <p:cNvSpPr txBox="1"/>
          <p:nvPr/>
        </p:nvSpPr>
        <p:spPr>
          <a:xfrm>
            <a:off x="6903720" y="1783080"/>
            <a:ext cx="4800600" cy="274320"/>
          </a:xfrm>
          <a:prstGeom prst="rect">
            <a:avLst/>
          </a:prstGeom>
          <a:noFill/>
          <a:ln/>
        </p:spPr>
        <p:txBody>
          <a:bodyPr wrap="square" rtlCol="0" anchor="ctr"/>
          <a:lstStyle/>
          <a:p>
            <a:pPr indent="0" marL="0">
              <a:buNone/>
            </a:pPr>
            <a:r>
              <a:rPr lang="en-US" sz="1300" b="1" dirty="0">
                <a:solidFill>
                  <a:srgbClr val="0B1B2B"/>
                </a:solidFill>
                <a:latin typeface="Cambria" pitchFamily="34" charset="0"/>
                <a:ea typeface="Cambria" pitchFamily="34" charset="-122"/>
                <a:cs typeface="Cambria" pitchFamily="34" charset="-120"/>
              </a:rPr>
              <a:t>Illustrative Deployment</a:t>
            </a:r>
            <a:endParaRPr lang="en-US" sz="1300" dirty="0"/>
          </a:p>
        </p:txBody>
      </p:sp>
      <p:graphicFrame>
        <p:nvGraphicFramePr>
          <p:cNvPr id="11" name="Chart 0" descr=""/>
          <p:cNvGraphicFramePr/>
          <p:nvPr/>
        </p:nvGraphicFramePr>
        <p:xfrm>
          <a:off x="6903720" y="2103120"/>
          <a:ext cx="2834640" cy="2834640"/>
        </p:xfrm>
        <a:graphic xmlns:a="http://schemas.openxmlformats.org/drawingml/2006/main">
          <a:graphicData uri="http://schemas.openxmlformats.org/drawingml/2006/chart">
            <c:chart xmlns:c="http://schemas.openxmlformats.org/drawingml/2006/chart" r:id="rId2"/>
          </a:graphicData>
        </a:graphic>
      </p:graphicFrame>
      <p:sp>
        <p:nvSpPr>
          <p:cNvPr id="12" name="Shape 8"/>
          <p:cNvSpPr/>
          <p:nvPr/>
        </p:nvSpPr>
        <p:spPr>
          <a:xfrm>
            <a:off x="9921240" y="2313432"/>
            <a:ext cx="146304" cy="146304"/>
          </a:xfrm>
          <a:prstGeom prst="rect">
            <a:avLst/>
          </a:prstGeom>
          <a:solidFill>
            <a:srgbClr val="0B1B2B"/>
          </a:solidFill>
          <a:ln/>
        </p:spPr>
      </p:sp>
      <p:sp>
        <p:nvSpPr>
          <p:cNvPr id="13" name="Text 9"/>
          <p:cNvSpPr txBox="1"/>
          <p:nvPr/>
        </p:nvSpPr>
        <p:spPr>
          <a:xfrm>
            <a:off x="10149840" y="2231136"/>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AI-Medicine Research Grants — 70%</a:t>
            </a:r>
            <a:endParaRPr lang="en-US" sz="950" dirty="0"/>
          </a:p>
        </p:txBody>
      </p:sp>
      <p:sp>
        <p:nvSpPr>
          <p:cNvPr id="14" name="Shape 10"/>
          <p:cNvSpPr/>
          <p:nvPr/>
        </p:nvSpPr>
        <p:spPr>
          <a:xfrm>
            <a:off x="9921240" y="2880360"/>
            <a:ext cx="146304" cy="146304"/>
          </a:xfrm>
          <a:prstGeom prst="rect">
            <a:avLst/>
          </a:prstGeom>
          <a:solidFill>
            <a:srgbClr val="C6A15B"/>
          </a:solidFill>
          <a:ln/>
        </p:spPr>
      </p:sp>
      <p:sp>
        <p:nvSpPr>
          <p:cNvPr id="15" name="Text 11"/>
          <p:cNvSpPr txBox="1"/>
          <p:nvPr/>
        </p:nvSpPr>
        <p:spPr>
          <a:xfrm>
            <a:off x="10149840" y="2798064"/>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Venture Philanthropy — 20%</a:t>
            </a:r>
            <a:endParaRPr lang="en-US" sz="950" dirty="0"/>
          </a:p>
        </p:txBody>
      </p:sp>
      <p:sp>
        <p:nvSpPr>
          <p:cNvPr id="16" name="Shape 12"/>
          <p:cNvSpPr/>
          <p:nvPr/>
        </p:nvSpPr>
        <p:spPr>
          <a:xfrm>
            <a:off x="9921240" y="3447288"/>
            <a:ext cx="146304" cy="146304"/>
          </a:xfrm>
          <a:prstGeom prst="rect">
            <a:avLst/>
          </a:prstGeom>
          <a:solidFill>
            <a:srgbClr val="8C93A0"/>
          </a:solidFill>
          <a:ln/>
        </p:spPr>
      </p:sp>
      <p:sp>
        <p:nvSpPr>
          <p:cNvPr id="17" name="Text 13"/>
          <p:cNvSpPr txBox="1"/>
          <p:nvPr/>
        </p:nvSpPr>
        <p:spPr>
          <a:xfrm>
            <a:off x="10149840" y="3364992"/>
            <a:ext cx="1691640" cy="502920"/>
          </a:xfrm>
          <a:prstGeom prst="rect">
            <a:avLst/>
          </a:prstGeom>
          <a:noFill/>
          <a:ln/>
        </p:spPr>
        <p:txBody>
          <a:bodyPr wrap="square" rtlCol="0" anchor="ctr"/>
          <a:lstStyle/>
          <a:p>
            <a:pPr indent="0" marL="0">
              <a:lnSpc>
                <a:spcPct val="105000"/>
              </a:lnSpc>
              <a:buNone/>
            </a:pPr>
            <a:r>
              <a:rPr lang="en-US" sz="950" dirty="0">
                <a:solidFill>
                  <a:srgbClr val="0B1B2B"/>
                </a:solidFill>
                <a:latin typeface="Calibri" pitchFamily="34" charset="0"/>
                <a:ea typeface="Calibri" pitchFamily="34" charset="-122"/>
                <a:cs typeface="Calibri" pitchFamily="34" charset="-120"/>
              </a:rPr>
              <a:t>Operating &amp; Governance — 10%</a:t>
            </a:r>
            <a:endParaRPr lang="en-US" sz="950" dirty="0"/>
          </a:p>
        </p:txBody>
      </p:sp>
      <p:sp>
        <p:nvSpPr>
          <p:cNvPr id="18" name="Shape 14"/>
          <p:cNvSpPr/>
          <p:nvPr/>
        </p:nvSpPr>
        <p:spPr>
          <a:xfrm>
            <a:off x="6903720" y="5257800"/>
            <a:ext cx="4800600" cy="822960"/>
          </a:xfrm>
          <a:prstGeom prst="roundRect">
            <a:avLst>
              <a:gd name="adj" fmla="val 7778"/>
            </a:avLst>
          </a:prstGeom>
          <a:solidFill>
            <a:srgbClr val="FFFFFF"/>
          </a:solidFill>
          <a:ln w="12700">
            <a:solidFill>
              <a:srgbClr val="E3DFD3"/>
            </a:solidFill>
            <a:prstDash val="solid"/>
          </a:ln>
        </p:spPr>
      </p:sp>
      <p:sp>
        <p:nvSpPr>
          <p:cNvPr id="19" name="Text 15"/>
          <p:cNvSpPr txBox="1"/>
          <p:nvPr/>
        </p:nvSpPr>
        <p:spPr>
          <a:xfrm>
            <a:off x="7086600" y="5349240"/>
            <a:ext cx="4434840" cy="640080"/>
          </a:xfrm>
          <a:prstGeom prst="rect">
            <a:avLst/>
          </a:prstGeom>
          <a:noFill/>
          <a:ln/>
        </p:spPr>
        <p:txBody>
          <a:bodyPr wrap="square" rtlCol="0" anchor="ctr"/>
          <a:lstStyle/>
          <a:p>
            <a:pPr indent="0" marL="0">
              <a:lnSpc>
                <a:spcPct val="115000"/>
              </a:lnSpc>
              <a:buNone/>
            </a:pPr>
            <a:r>
              <a:rPr lang="en-US" sz="1000" i="1" dirty="0">
                <a:solidFill>
                  <a:srgbClr val="0B1B2B"/>
                </a:solidFill>
                <a:latin typeface="Calibri" pitchFamily="34" charset="0"/>
                <a:ea typeface="Calibri" pitchFamily="34" charset="-122"/>
                <a:cs typeface="Calibri" pitchFamily="34" charset="-120"/>
              </a:rPr>
              <a:t>Focus area: AI-enabled drug discovery, diagnostics and precision-medicine research institutions.</a:t>
            </a:r>
            <a:endParaRPr lang="en-US" sz="1000" dirty="0"/>
          </a:p>
        </p:txBody>
      </p:sp>
      <p:sp>
        <p:nvSpPr>
          <p:cNvPr id="20" name="Text 1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1" name="Text 1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OVERSIGHT</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Governance &amp; Risk Oversight</a:t>
            </a:r>
            <a:endParaRPr lang="en-US" sz="3000" dirty="0"/>
          </a:p>
        </p:txBody>
      </p:sp>
      <p:sp>
        <p:nvSpPr>
          <p:cNvPr id="6" name="Text 3"/>
          <p:cNvSpPr txBox="1"/>
          <p:nvPr/>
        </p:nvSpPr>
        <p:spPr>
          <a:xfrm>
            <a:off x="1207008" y="1243584"/>
            <a:ext cx="10058400" cy="310896"/>
          </a:xfrm>
          <a:prstGeom prst="rect">
            <a:avLst/>
          </a:prstGeom>
          <a:noFill/>
          <a:ln/>
        </p:spPr>
        <p:txBody>
          <a:bodyPr wrap="square" rtlCol="0" anchor="ctr"/>
          <a:lstStyle/>
          <a:p>
            <a:pPr indent="0" marL="0">
              <a:buNone/>
            </a:pPr>
            <a:r>
              <a:rPr lang="en-US" sz="1250" i="1" dirty="0">
                <a:solidFill>
                  <a:srgbClr val="8C93A0"/>
                </a:solidFill>
                <a:latin typeface="Calibri" pitchFamily="34" charset="0"/>
                <a:ea typeface="Calibri" pitchFamily="34" charset="-122"/>
                <a:cs typeface="Calibri" pitchFamily="34" charset="-120"/>
              </a:rPr>
              <a:t>Quarterly Investment Committee meetings; Investment Policy Statement reviewed and re-ratified annually.</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47120" cy="3291840"/>
        </p:xfrm>
        <a:graphic>
          <a:graphicData uri="http://schemas.openxmlformats.org/drawingml/2006/table">
            <a:tbl>
              <a:tblPr/>
              <a:tblGrid>
                <a:gridCol w="3566160"/>
                <a:gridCol w="3657600"/>
                <a:gridCol w="40233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Pool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Key Risk</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Primary Control</a:t>
                      </a:r>
                      <a:endParaRPr lang="en-US" sz="120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0B1B2B"/>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01 · Capital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Single-stock concentration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Hedging protocol + annual IC review</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02 · Stable Yield &amp; Growth</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Market and credit drawdown</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Diversification + rebalancing bands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03 · Yacht Facility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Loan-to-value and rate risk</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LTV covenant + rate-hedge review</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04 · Opportunistic / Private Markets</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Illiquidity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Hard NAV cap + vintage pacing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6F3EC"/>
                    </a:solidFill>
                  </a:tcPr>
                </a:tc>
              </a:tr>
              <a:tr h="502920">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05 · Philanthropy</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Mission drift / impact risk</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B2B"/>
                          </a:solidFill>
                          <a:latin typeface="Calibri" pitchFamily="34" charset="0"/>
                          <a:ea typeface="Calibri" pitchFamily="34" charset="-122"/>
                          <a:cs typeface="Calibri" pitchFamily="34" charset="-120"/>
                        </a:rPr>
                        <a:t>Grant due diligence + impact reporting</a:t>
                      </a:r>
                      <a:endParaRPr lang="en-US" sz="1150" dirty="0">
                        <a:latin typeface="Calibri" charset="0"/>
                        <a:ea typeface="Calibri" charset="0"/>
                        <a:cs typeface="Calibri" charset="0"/>
                      </a:endParaRPr>
                    </a:p>
                  </a:txBody>
                  <a:tcPr marL="91440" marR="91440" marT="45720" marB="45720" anchor="ctr">
                    <a:lnL w="12700" cap="flat" cmpd="sng" algn="ctr">
                      <a:solidFill>
                        <a:srgbClr val="E3DFD3"/>
                      </a:solidFill>
                      <a:prstDash val="solid"/>
                      <a:round/>
                      <a:headEnd type="none" w="med" len="med"/>
                      <a:tailEnd type="none" w="med" len="med"/>
                    </a:lnL>
                    <a:lnR w="12700" cap="flat" cmpd="sng" algn="ctr">
                      <a:solidFill>
                        <a:srgbClr val="E3DFD3"/>
                      </a:solidFill>
                      <a:prstDash val="solid"/>
                      <a:round/>
                      <a:headEnd type="none" w="med" len="med"/>
                      <a:tailEnd type="none" w="med" len="med"/>
                    </a:lnR>
                    <a:lnT w="12700" cap="flat" cmpd="sng" algn="ctr">
                      <a:solidFill>
                        <a:srgbClr val="E3DFD3"/>
                      </a:solidFill>
                      <a:prstDash val="solid"/>
                      <a:round/>
                      <a:headEnd type="none" w="med" len="med"/>
                      <a:tailEnd type="none" w="med" len="med"/>
                    </a:lnT>
                    <a:lnB w="12700" cap="flat" cmpd="sng" algn="ctr">
                      <a:solidFill>
                        <a:srgbClr val="E3DFD3"/>
                      </a:solidFill>
                      <a:prstDash val="solid"/>
                      <a:round/>
                      <a:headEnd type="none" w="med" len="med"/>
                      <a:tailEnd type="none" w="med" len="med"/>
                    </a:lnB>
                    <a:solidFill>
                      <a:srgbClr val="FFFFFF"/>
                    </a:solidFill>
                  </a:tcPr>
                </a:tc>
              </a:tr>
            </a:tbl>
          </a:graphicData>
        </a:graphic>
      </p:graphicFrame>
      <p:sp>
        <p:nvSpPr>
          <p:cNvPr id="8" name="Shape 4"/>
          <p:cNvSpPr/>
          <p:nvPr/>
        </p:nvSpPr>
        <p:spPr>
          <a:xfrm>
            <a:off x="457200" y="5440680"/>
            <a:ext cx="11247120" cy="822960"/>
          </a:xfrm>
          <a:prstGeom prst="roundRect">
            <a:avLst>
              <a:gd name="adj" fmla="val 7778"/>
            </a:avLst>
          </a:prstGeom>
          <a:solidFill>
            <a:srgbClr val="F6F3EC"/>
          </a:solidFill>
          <a:ln/>
        </p:spPr>
      </p:sp>
      <p:sp>
        <p:nvSpPr>
          <p:cNvPr id="9" name="Text 5"/>
          <p:cNvSpPr txBox="1"/>
          <p:nvPr/>
        </p:nvSpPr>
        <p:spPr>
          <a:xfrm>
            <a:off x="685800" y="5532120"/>
            <a:ext cx="10789920" cy="640080"/>
          </a:xfrm>
          <a:prstGeom prst="rect">
            <a:avLst/>
          </a:prstGeom>
          <a:noFill/>
          <a:ln/>
        </p:spPr>
        <p:txBody>
          <a:bodyPr wrap="square" rtlCol="0" anchor="ctr"/>
          <a:lstStyle/>
          <a:p>
            <a:pPr indent="0" marL="0">
              <a:lnSpc>
                <a:spcPct val="115000"/>
              </a:lnSpc>
              <a:buNone/>
            </a:pPr>
            <a:r>
              <a:rPr lang="en-US" sz="1100" i="1" dirty="0">
                <a:solidFill>
                  <a:srgbClr val="0B1B2B"/>
                </a:solidFill>
                <a:latin typeface="Calibri" pitchFamily="34" charset="0"/>
                <a:ea typeface="Calibri" pitchFamily="34" charset="-122"/>
                <a:cs typeface="Calibri" pitchFamily="34" charset="-120"/>
              </a:rPr>
              <a:t>Investment Committee: family principals, an independent director and the family office CIO. The Committee approves every private-market commitment, hedge structure and grant over threshold.</a:t>
            </a:r>
            <a:endParaRPr lang="en-US" sz="1100" dirty="0"/>
          </a:p>
        </p:txBody>
      </p:sp>
      <p:sp>
        <p:nvSpPr>
          <p:cNvPr id="10" name="Text 6"/>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11" name="Text 7"/>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C"/>
        </a:solidFill>
      </p:bgPr>
    </p:bg>
    <p:spTree>
      <p:nvGrpSpPr>
        <p:cNvPr id="1" name=""/>
        <p:cNvGrpSpPr/>
        <p:nvPr/>
      </p:nvGrpSpPr>
      <p:grpSpPr>
        <a:xfrm>
          <a:off x="0" y="0"/>
          <a:ext cx="0" cy="0"/>
          <a:chOff x="0" y="0"/>
          <a:chExt cx="0" cy="0"/>
        </a:xfrm>
      </p:grpSpPr>
      <p:sp>
        <p:nvSpPr>
          <p:cNvPr id="2" name="Shape 0"/>
          <p:cNvSpPr/>
          <p:nvPr/>
        </p:nvSpPr>
        <p:spPr>
          <a:xfrm>
            <a:off x="457200" y="457200"/>
            <a:ext cx="566928" cy="566928"/>
          </a:xfrm>
          <a:prstGeom prst="ellipse">
            <a:avLst/>
          </a:prstGeom>
          <a:solidFill>
            <a:srgbClr val="C6A15B"/>
          </a:solidFill>
          <a:ln/>
        </p:spPr>
      </p:sp>
      <p:pic>
        <p:nvPicPr>
          <p:cNvPr id="3" name="Image 0" descr="preencoded.png">    </p:cNvPr>
          <p:cNvPicPr>
            <a:picLocks noChangeAspect="1"/>
          </p:cNvPicPr>
          <p:nvPr/>
        </p:nvPicPr>
        <p:blipFill>
          <a:blip r:embed="rId1"/>
          <a:stretch>
            <a:fillRect/>
          </a:stretch>
        </p:blipFill>
        <p:spPr>
          <a:xfrm>
            <a:off x="530901" y="530901"/>
            <a:ext cx="419527" cy="419527"/>
          </a:xfrm>
          <a:prstGeom prst="rect">
            <a:avLst/>
          </a:prstGeom>
        </p:spPr>
      </p:pic>
      <p:sp>
        <p:nvSpPr>
          <p:cNvPr id="4" name="Text 1"/>
          <p:cNvSpPr txBox="1"/>
          <p:nvPr/>
        </p:nvSpPr>
        <p:spPr>
          <a:xfrm>
            <a:off x="1207008" y="475488"/>
            <a:ext cx="7315200" cy="274320"/>
          </a:xfrm>
          <a:prstGeom prst="rect">
            <a:avLst/>
          </a:prstGeom>
          <a:noFill/>
          <a:ln/>
        </p:spPr>
        <p:txBody>
          <a:bodyPr wrap="square" rtlCol="0" anchor="ctr"/>
          <a:lstStyle/>
          <a:p>
            <a:pPr algn="l" indent="0" marL="0">
              <a:buNone/>
            </a:pPr>
            <a:r>
              <a:rPr lang="en-US" sz="1100" b="1" spc="200" kern="0" dirty="0">
                <a:solidFill>
                  <a:srgbClr val="C6A15B"/>
                </a:solidFill>
                <a:latin typeface="Calibri" pitchFamily="34" charset="0"/>
                <a:ea typeface="Calibri" pitchFamily="34" charset="-122"/>
                <a:cs typeface="Calibri" pitchFamily="34" charset="-120"/>
              </a:rPr>
              <a:t>IMPLEMENTATION</a:t>
            </a:r>
            <a:endParaRPr lang="en-US" sz="1100" dirty="0"/>
          </a:p>
        </p:txBody>
      </p:sp>
      <p:sp>
        <p:nvSpPr>
          <p:cNvPr id="5" name="Text 2"/>
          <p:cNvSpPr txBox="1"/>
          <p:nvPr/>
        </p:nvSpPr>
        <p:spPr>
          <a:xfrm>
            <a:off x="1207008" y="713232"/>
            <a:ext cx="10058400" cy="548640"/>
          </a:xfrm>
          <a:prstGeom prst="rect">
            <a:avLst/>
          </a:prstGeom>
          <a:noFill/>
          <a:ln/>
        </p:spPr>
        <p:txBody>
          <a:bodyPr wrap="square" rtlCol="0" anchor="ctr"/>
          <a:lstStyle/>
          <a:p>
            <a:pPr indent="0" marL="0">
              <a:buNone/>
            </a:pPr>
            <a:r>
              <a:rPr lang="en-US" sz="3000" b="1" dirty="0">
                <a:solidFill>
                  <a:srgbClr val="0B1B2B"/>
                </a:solidFill>
                <a:latin typeface="Cambria" pitchFamily="34" charset="0"/>
                <a:ea typeface="Cambria" pitchFamily="34" charset="-122"/>
                <a:cs typeface="Cambria" pitchFamily="34" charset="-120"/>
              </a:rPr>
              <a:t>Roadmap to Full Deployment</a:t>
            </a:r>
            <a:endParaRPr lang="en-US" sz="3000" dirty="0"/>
          </a:p>
        </p:txBody>
      </p:sp>
      <p:sp>
        <p:nvSpPr>
          <p:cNvPr id="6" name="Shape 3"/>
          <p:cNvSpPr/>
          <p:nvPr/>
        </p:nvSpPr>
        <p:spPr>
          <a:xfrm>
            <a:off x="1863090" y="2903220"/>
            <a:ext cx="8435340" cy="0"/>
          </a:xfrm>
          <a:prstGeom prst="line">
            <a:avLst/>
          </a:prstGeom>
          <a:noFill/>
          <a:ln w="19050">
            <a:solidFill>
              <a:srgbClr val="C6A15B"/>
            </a:solidFill>
            <a:prstDash val="solid"/>
          </a:ln>
        </p:spPr>
      </p:sp>
      <p:sp>
        <p:nvSpPr>
          <p:cNvPr id="7" name="Shape 4"/>
          <p:cNvSpPr/>
          <p:nvPr/>
        </p:nvSpPr>
        <p:spPr>
          <a:xfrm>
            <a:off x="1611630" y="2651760"/>
            <a:ext cx="502920" cy="502920"/>
          </a:xfrm>
          <a:prstGeom prst="ellipse">
            <a:avLst/>
          </a:prstGeom>
          <a:solidFill>
            <a:srgbClr val="0B1B2B"/>
          </a:solidFill>
          <a:ln w="25400">
            <a:solidFill>
              <a:srgbClr val="C6A15B"/>
            </a:solidFill>
            <a:prstDash val="solid"/>
          </a:ln>
        </p:spPr>
      </p:sp>
      <p:sp>
        <p:nvSpPr>
          <p:cNvPr id="8" name="Text 5"/>
          <p:cNvSpPr txBox="1"/>
          <p:nvPr/>
        </p:nvSpPr>
        <p:spPr>
          <a:xfrm>
            <a:off x="161163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59436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1</a:t>
            </a:r>
            <a:endParaRPr lang="en-US" sz="1400" dirty="0"/>
          </a:p>
        </p:txBody>
      </p:sp>
      <p:sp>
        <p:nvSpPr>
          <p:cNvPr id="10" name="Text 7"/>
          <p:cNvSpPr txBox="1"/>
          <p:nvPr/>
        </p:nvSpPr>
        <p:spPr>
          <a:xfrm>
            <a:off x="59436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0–3</a:t>
            </a:r>
            <a:endParaRPr lang="en-US" sz="1050" dirty="0"/>
          </a:p>
        </p:txBody>
      </p:sp>
      <p:sp>
        <p:nvSpPr>
          <p:cNvPr id="11" name="Text 8"/>
          <p:cNvSpPr txBox="1"/>
          <p:nvPr/>
        </p:nvSpPr>
        <p:spPr>
          <a:xfrm>
            <a:off x="59436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Finalise Investment Policy Statement; establish trust and governance structure</a:t>
            </a:r>
            <a:endParaRPr lang="en-US" sz="1000" dirty="0"/>
          </a:p>
        </p:txBody>
      </p:sp>
      <p:sp>
        <p:nvSpPr>
          <p:cNvPr id="12" name="Shape 9"/>
          <p:cNvSpPr/>
          <p:nvPr/>
        </p:nvSpPr>
        <p:spPr>
          <a:xfrm>
            <a:off x="4423410" y="2651760"/>
            <a:ext cx="502920" cy="502920"/>
          </a:xfrm>
          <a:prstGeom prst="ellipse">
            <a:avLst/>
          </a:prstGeom>
          <a:solidFill>
            <a:srgbClr val="0B1B2B"/>
          </a:solidFill>
          <a:ln w="25400">
            <a:solidFill>
              <a:srgbClr val="C6A15B"/>
            </a:solidFill>
            <a:prstDash val="solid"/>
          </a:ln>
        </p:spPr>
      </p:sp>
      <p:sp>
        <p:nvSpPr>
          <p:cNvPr id="13" name="Text 10"/>
          <p:cNvSpPr txBox="1"/>
          <p:nvPr/>
        </p:nvSpPr>
        <p:spPr>
          <a:xfrm>
            <a:off x="442341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340614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2</a:t>
            </a:r>
            <a:endParaRPr lang="en-US" sz="1400" dirty="0"/>
          </a:p>
        </p:txBody>
      </p:sp>
      <p:sp>
        <p:nvSpPr>
          <p:cNvPr id="15" name="Text 12"/>
          <p:cNvSpPr txBox="1"/>
          <p:nvPr/>
        </p:nvSpPr>
        <p:spPr>
          <a:xfrm>
            <a:off x="340614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3–6</a:t>
            </a:r>
            <a:endParaRPr lang="en-US" sz="1050" dirty="0"/>
          </a:p>
        </p:txBody>
      </p:sp>
      <p:sp>
        <p:nvSpPr>
          <p:cNvPr id="16" name="Text 13"/>
          <p:cNvSpPr txBox="1"/>
          <p:nvPr/>
        </p:nvSpPr>
        <p:spPr>
          <a:xfrm>
            <a:off x="340614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Execute securities-backed lending facility; complete yacht acquisition</a:t>
            </a:r>
            <a:endParaRPr lang="en-US" sz="1000" dirty="0"/>
          </a:p>
        </p:txBody>
      </p:sp>
      <p:sp>
        <p:nvSpPr>
          <p:cNvPr id="17" name="Shape 14"/>
          <p:cNvSpPr/>
          <p:nvPr/>
        </p:nvSpPr>
        <p:spPr>
          <a:xfrm>
            <a:off x="7235190" y="2651760"/>
            <a:ext cx="502920" cy="502920"/>
          </a:xfrm>
          <a:prstGeom prst="ellipse">
            <a:avLst/>
          </a:prstGeom>
          <a:solidFill>
            <a:srgbClr val="0B1B2B"/>
          </a:solidFill>
          <a:ln w="25400">
            <a:solidFill>
              <a:srgbClr val="C6A15B"/>
            </a:solidFill>
            <a:prstDash val="solid"/>
          </a:ln>
        </p:spPr>
      </p:sp>
      <p:sp>
        <p:nvSpPr>
          <p:cNvPr id="18" name="Text 15"/>
          <p:cNvSpPr txBox="1"/>
          <p:nvPr/>
        </p:nvSpPr>
        <p:spPr>
          <a:xfrm>
            <a:off x="723519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621792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3</a:t>
            </a:r>
            <a:endParaRPr lang="en-US" sz="1400" dirty="0"/>
          </a:p>
        </p:txBody>
      </p:sp>
      <p:sp>
        <p:nvSpPr>
          <p:cNvPr id="20" name="Text 17"/>
          <p:cNvSpPr txBox="1"/>
          <p:nvPr/>
        </p:nvSpPr>
        <p:spPr>
          <a:xfrm>
            <a:off x="621792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Months 6–12</a:t>
            </a:r>
            <a:endParaRPr lang="en-US" sz="1050" dirty="0"/>
          </a:p>
        </p:txBody>
      </p:sp>
      <p:sp>
        <p:nvSpPr>
          <p:cNvPr id="21" name="Text 18"/>
          <p:cNvSpPr txBox="1"/>
          <p:nvPr/>
        </p:nvSpPr>
        <p:spPr>
          <a:xfrm>
            <a:off x="621792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Deploy Pool 4 commitments; establish Private Ancillary Fund and first AI-medicine grants</a:t>
            </a:r>
            <a:endParaRPr lang="en-US" sz="1000" dirty="0"/>
          </a:p>
        </p:txBody>
      </p:sp>
      <p:sp>
        <p:nvSpPr>
          <p:cNvPr id="22" name="Shape 19"/>
          <p:cNvSpPr/>
          <p:nvPr/>
        </p:nvSpPr>
        <p:spPr>
          <a:xfrm>
            <a:off x="10046970" y="2651760"/>
            <a:ext cx="502920" cy="502920"/>
          </a:xfrm>
          <a:prstGeom prst="ellipse">
            <a:avLst/>
          </a:prstGeom>
          <a:solidFill>
            <a:srgbClr val="0B1B2B"/>
          </a:solidFill>
          <a:ln w="25400">
            <a:solidFill>
              <a:srgbClr val="C6A15B"/>
            </a:solidFill>
            <a:prstDash val="solid"/>
          </a:ln>
        </p:spPr>
      </p:sp>
      <p:sp>
        <p:nvSpPr>
          <p:cNvPr id="23" name="Text 20"/>
          <p:cNvSpPr txBox="1"/>
          <p:nvPr/>
        </p:nvSpPr>
        <p:spPr>
          <a:xfrm>
            <a:off x="10046970" y="2651760"/>
            <a:ext cx="502920" cy="502920"/>
          </a:xfrm>
          <a:prstGeom prst="rect">
            <a:avLst/>
          </a:prstGeom>
          <a:noFill/>
          <a:ln/>
        </p:spPr>
        <p:txBody>
          <a:bodyPr wrap="square" rtlCol="0" anchor="ctr"/>
          <a:lstStyle/>
          <a:p>
            <a:pPr algn="ctr" indent="0" marL="0">
              <a:buNone/>
            </a:pPr>
            <a:r>
              <a:rPr lang="en-US" sz="1600" b="1" dirty="0">
                <a:solidFill>
                  <a:srgbClr val="C6A15B"/>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9029700" y="3355848"/>
            <a:ext cx="2537460" cy="274320"/>
          </a:xfrm>
          <a:prstGeom prst="rect">
            <a:avLst/>
          </a:prstGeom>
          <a:noFill/>
          <a:ln/>
        </p:spPr>
        <p:txBody>
          <a:bodyPr wrap="square" rtlCol="0" anchor="ctr"/>
          <a:lstStyle/>
          <a:p>
            <a:pPr algn="ctr" indent="0" marL="0">
              <a:buNone/>
            </a:pPr>
            <a:r>
              <a:rPr lang="en-US" sz="1400" b="1" dirty="0">
                <a:solidFill>
                  <a:srgbClr val="0B1B2B"/>
                </a:solidFill>
                <a:latin typeface="Cambria" pitchFamily="34" charset="0"/>
                <a:ea typeface="Cambria" pitchFamily="34" charset="-122"/>
                <a:cs typeface="Cambria" pitchFamily="34" charset="-120"/>
              </a:rPr>
              <a:t>Phase 4</a:t>
            </a:r>
            <a:endParaRPr lang="en-US" sz="1400" dirty="0"/>
          </a:p>
        </p:txBody>
      </p:sp>
      <p:sp>
        <p:nvSpPr>
          <p:cNvPr id="25" name="Text 22"/>
          <p:cNvSpPr txBox="1"/>
          <p:nvPr/>
        </p:nvSpPr>
        <p:spPr>
          <a:xfrm>
            <a:off x="9029700" y="3648456"/>
            <a:ext cx="2537460" cy="256032"/>
          </a:xfrm>
          <a:prstGeom prst="rect">
            <a:avLst/>
          </a:prstGeom>
          <a:noFill/>
          <a:ln/>
        </p:spPr>
        <p:txBody>
          <a:bodyPr wrap="square" rtlCol="0" anchor="ctr"/>
          <a:lstStyle/>
          <a:p>
            <a:pPr algn="ctr" indent="0" marL="0">
              <a:buNone/>
            </a:pPr>
            <a:r>
              <a:rPr lang="en-US" sz="1050" i="1" dirty="0">
                <a:solidFill>
                  <a:srgbClr val="8C2F39"/>
                </a:solidFill>
                <a:latin typeface="Calibri" pitchFamily="34" charset="0"/>
                <a:ea typeface="Calibri" pitchFamily="34" charset="-122"/>
                <a:cs typeface="Calibri" pitchFamily="34" charset="-120"/>
              </a:rPr>
              <a:t>Ongoing</a:t>
            </a:r>
            <a:endParaRPr lang="en-US" sz="1050" dirty="0"/>
          </a:p>
        </p:txBody>
      </p:sp>
      <p:sp>
        <p:nvSpPr>
          <p:cNvPr id="26" name="Text 23"/>
          <p:cNvSpPr txBox="1"/>
          <p:nvPr/>
        </p:nvSpPr>
        <p:spPr>
          <a:xfrm>
            <a:off x="9029700" y="3959352"/>
            <a:ext cx="2537460" cy="1737360"/>
          </a:xfrm>
          <a:prstGeom prst="rect">
            <a:avLst/>
          </a:prstGeom>
          <a:noFill/>
          <a:ln/>
        </p:spPr>
        <p:txBody>
          <a:bodyPr wrap="square" rtlCol="0" anchor="t"/>
          <a:lstStyle/>
          <a:p>
            <a:pPr algn="ctr" indent="0" marL="0">
              <a:lnSpc>
                <a:spcPct val="120000"/>
              </a:lnSpc>
              <a:buNone/>
            </a:pPr>
            <a:r>
              <a:rPr lang="en-US" sz="1000" dirty="0">
                <a:solidFill>
                  <a:srgbClr val="0B1B2B"/>
                </a:solidFill>
                <a:latin typeface="Calibri" pitchFamily="34" charset="0"/>
                <a:ea typeface="Calibri" pitchFamily="34" charset="-122"/>
                <a:cs typeface="Calibri" pitchFamily="34" charset="-120"/>
              </a:rPr>
              <a:t>Quarterly monitoring and rebalancing; annual Investment Policy Statement review</a:t>
            </a:r>
            <a:endParaRPr lang="en-US" sz="1000" dirty="0"/>
          </a:p>
        </p:txBody>
      </p:sp>
      <p:sp>
        <p:nvSpPr>
          <p:cNvPr id="27" name="Text 24"/>
          <p:cNvSpPr txBox="1"/>
          <p:nvPr/>
        </p:nvSpPr>
        <p:spPr>
          <a:xfrm>
            <a:off x="457200" y="6528816"/>
            <a:ext cx="7315200" cy="256032"/>
          </a:xfrm>
          <a:prstGeom prst="rect">
            <a:avLst/>
          </a:prstGeom>
          <a:noFill/>
          <a:ln/>
        </p:spPr>
        <p:txBody>
          <a:bodyPr wrap="square" rtlCol="0" anchor="ctr"/>
          <a:lstStyle/>
          <a:p>
            <a:pPr indent="0" marL="0">
              <a:buNone/>
            </a:pPr>
            <a:r>
              <a:rPr lang="en-US" sz="850" dirty="0">
                <a:solidFill>
                  <a:srgbClr val="8C93A0"/>
                </a:solidFill>
                <a:latin typeface="Calibri" pitchFamily="34" charset="0"/>
                <a:ea typeface="Calibri" pitchFamily="34" charset="-122"/>
                <a:cs typeface="Calibri" pitchFamily="34" charset="-120"/>
              </a:rPr>
              <a:t>Private Wealth Advisory · Strictly Private &amp; Confidential</a:t>
            </a:r>
            <a:endParaRPr lang="en-US" sz="850" dirty="0"/>
          </a:p>
        </p:txBody>
      </p:sp>
      <p:sp>
        <p:nvSpPr>
          <p:cNvPr id="28" name="Text 25"/>
          <p:cNvSpPr txBox="1"/>
          <p:nvPr/>
        </p:nvSpPr>
        <p:spPr>
          <a:xfrm>
            <a:off x="11274552" y="6528816"/>
            <a:ext cx="457200" cy="256032"/>
          </a:xfrm>
          <a:prstGeom prst="rect">
            <a:avLst/>
          </a:prstGeom>
          <a:noFill/>
          <a:ln/>
        </p:spPr>
        <p:txBody>
          <a:bodyPr wrap="square" rtlCol="0" anchor="ctr"/>
          <a:lstStyle/>
          <a:p>
            <a:pPr algn="r" indent="0" marL="0">
              <a:buNone/>
            </a:pPr>
            <a:r>
              <a:rPr lang="en-US" sz="850" dirty="0">
                <a:solidFill>
                  <a:srgbClr val="8C93A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320"/>
        </a:solidFill>
      </p:bgPr>
    </p:bg>
    <p:spTree>
      <p:nvGrpSpPr>
        <p:cNvPr id="1" name=""/>
        <p:cNvGrpSpPr/>
        <p:nvPr/>
      </p:nvGrpSpPr>
      <p:grpSpPr>
        <a:xfrm>
          <a:off x="0" y="0"/>
          <a:ext cx="0" cy="0"/>
          <a:chOff x="0" y="0"/>
          <a:chExt cx="0" cy="0"/>
        </a:xfrm>
      </p:grpSpPr>
      <p:sp>
        <p:nvSpPr>
          <p:cNvPr id="2" name="Shape 0"/>
          <p:cNvSpPr/>
          <p:nvPr/>
        </p:nvSpPr>
        <p:spPr>
          <a:xfrm>
            <a:off x="-2377440" y="-2011680"/>
            <a:ext cx="5120640" cy="5120640"/>
          </a:xfrm>
          <a:prstGeom prst="ellipse">
            <a:avLst/>
          </a:prstGeom>
          <a:ln w="12700">
            <a:solidFill>
              <a:srgbClr val="C6A15B">
                <a:alpha val="40000"/>
              </a:srgbClr>
            </a:solidFill>
            <a:prstDash val="solid"/>
          </a:ln>
        </p:spPr>
      </p:sp>
      <p:sp>
        <p:nvSpPr>
          <p:cNvPr id="3" name="Shape 1"/>
          <p:cNvSpPr/>
          <p:nvPr/>
        </p:nvSpPr>
        <p:spPr>
          <a:xfrm>
            <a:off x="822960" y="822960"/>
            <a:ext cx="640080" cy="640080"/>
          </a:xfrm>
          <a:prstGeom prst="ellipse">
            <a:avLst/>
          </a:prstGeom>
          <a:solidFill>
            <a:srgbClr val="C6A15B"/>
          </a:solidFill>
          <a:ln/>
        </p:spPr>
      </p:sp>
      <p:pic>
        <p:nvPicPr>
          <p:cNvPr id="4" name="Image 0" descr="preencoded.png">    </p:cNvPr>
          <p:cNvPicPr>
            <a:picLocks noChangeAspect="1"/>
          </p:cNvPicPr>
          <p:nvPr/>
        </p:nvPicPr>
        <p:blipFill>
          <a:blip r:embed="rId1"/>
          <a:stretch>
            <a:fillRect/>
          </a:stretch>
        </p:blipFill>
        <p:spPr>
          <a:xfrm>
            <a:off x="906170" y="906170"/>
            <a:ext cx="473659" cy="473659"/>
          </a:xfrm>
          <a:prstGeom prst="rect">
            <a:avLst/>
          </a:prstGeom>
        </p:spPr>
      </p:pic>
      <p:sp>
        <p:nvSpPr>
          <p:cNvPr id="5" name="Text 2"/>
          <p:cNvSpPr txBox="1"/>
          <p:nvPr/>
        </p:nvSpPr>
        <p:spPr>
          <a:xfrm>
            <a:off x="822960" y="1691640"/>
            <a:ext cx="8229600" cy="54864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Next Steps</a:t>
            </a:r>
            <a:endParaRPr lang="en-US" sz="3400" dirty="0"/>
          </a:p>
        </p:txBody>
      </p:sp>
      <p:sp>
        <p:nvSpPr>
          <p:cNvPr id="6" name="Text 3"/>
          <p:cNvSpPr txBox="1"/>
          <p:nvPr/>
        </p:nvSpPr>
        <p:spPr>
          <a:xfrm>
            <a:off x="868680" y="2514600"/>
            <a:ext cx="8686800" cy="2103120"/>
          </a:xfrm>
          <a:prstGeom prst="rect">
            <a:avLst/>
          </a:prstGeom>
          <a:noFill/>
          <a:ln/>
        </p:spPr>
        <p:txBody>
          <a:bodyPr wrap="square" rtlCol="0" anchor="ctr"/>
          <a:lstStyle/>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Ratify the Investment Policy Statement with the Investment Committee</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Instruct legal counsel on trust, lending-facility and Private Ancillary Fund documentation</a:t>
            </a:r>
            <a:endParaRPr lang="en-US" sz="1600" dirty="0"/>
          </a:p>
          <a:p>
            <a:pPr marL="203200" indent="-203200">
              <a:lnSpc>
                <a:spcPct val="120000"/>
              </a:lnSpc>
              <a:spcAft>
                <a:spcPts val="1600"/>
              </a:spcAft>
              <a:buSzPct val="100000"/>
              <a:buChar char="●"/>
            </a:pPr>
            <a:r>
              <a:rPr lang="en-US" sz="1600" dirty="0">
                <a:solidFill>
                  <a:srgbClr val="F6F3EC"/>
                </a:solidFill>
                <a:latin typeface="Calibri" pitchFamily="34" charset="0"/>
                <a:ea typeface="Calibri" pitchFamily="34" charset="-122"/>
                <a:cs typeface="Calibri" pitchFamily="34" charset="-120"/>
              </a:rPr>
              <a:t>Begin phased capital deployment across the five pools</a:t>
            </a:r>
            <a:endParaRPr lang="en-US" sz="1600" dirty="0"/>
          </a:p>
        </p:txBody>
      </p:sp>
      <p:sp>
        <p:nvSpPr>
          <p:cNvPr id="7" name="Text 4"/>
          <p:cNvSpPr txBox="1"/>
          <p:nvPr/>
        </p:nvSpPr>
        <p:spPr>
          <a:xfrm>
            <a:off x="822960" y="6126480"/>
            <a:ext cx="5486400" cy="274320"/>
          </a:xfrm>
          <a:prstGeom prst="rect">
            <a:avLst/>
          </a:prstGeom>
          <a:noFill/>
          <a:ln/>
        </p:spPr>
        <p:txBody>
          <a:bodyPr wrap="square" rtlCol="0" anchor="ctr"/>
          <a:lstStyle/>
          <a:p>
            <a:pPr indent="0" marL="0">
              <a:buNone/>
            </a:pPr>
            <a:r>
              <a:rPr lang="en-US" sz="1100" dirty="0">
                <a:solidFill>
                  <a:srgbClr val="C6A15B"/>
                </a:solidFill>
                <a:latin typeface="Calibri" pitchFamily="34" charset="0"/>
                <a:ea typeface="Calibri" pitchFamily="34" charset="-122"/>
                <a:cs typeface="Calibri" pitchFamily="34" charset="-120"/>
              </a:rPr>
              <a:t>Prepared by Private Wealth Advisory · Sydney</a:t>
            </a:r>
            <a:endParaRPr lang="en-US" sz="1100" dirty="0"/>
          </a:p>
        </p:txBody>
      </p:sp>
      <p:sp>
        <p:nvSpPr>
          <p:cNvPr id="8" name="Text 5"/>
          <p:cNvSpPr txBox="1"/>
          <p:nvPr/>
        </p:nvSpPr>
        <p:spPr>
          <a:xfrm>
            <a:off x="6766560" y="6126480"/>
            <a:ext cx="4937760" cy="274320"/>
          </a:xfrm>
          <a:prstGeom prst="rect">
            <a:avLst/>
          </a:prstGeom>
          <a:noFill/>
          <a:ln/>
        </p:spPr>
        <p:txBody>
          <a:bodyPr wrap="square" rtlCol="0" anchor="ctr"/>
          <a:lstStyle/>
          <a:p>
            <a:pPr algn="r" indent="0" marL="0">
              <a:buNone/>
            </a:pPr>
            <a:r>
              <a:rPr lang="en-US" sz="1050" i="1" dirty="0">
                <a:solidFill>
                  <a:srgbClr val="8C93A0"/>
                </a:solidFill>
                <a:latin typeface="Calibri" pitchFamily="34" charset="0"/>
                <a:ea typeface="Calibri" pitchFamily="34" charset="-122"/>
                <a:cs typeface="Calibri" pitchFamily="34" charset="-120"/>
              </a:rPr>
              <a:t>Strictly Private &amp; Confidential</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Family Office Investment Strategy</dc:title>
  <dc:subject>PptxGenJS Presentation</dc:subject>
  <dc:creator>Private Wealth Advisory</dc:creator>
  <cp:lastModifiedBy>Private Wealth Advisory</cp:lastModifiedBy>
  <cp:revision>1</cp:revision>
  <dcterms:created xsi:type="dcterms:W3CDTF">2026-08-26T13:33:01Z</dcterms:created>
  <dcterms:modified xsi:type="dcterms:W3CDTF">2026-08-26T13:33:01Z</dcterms:modified>
</cp:coreProperties>
</file>