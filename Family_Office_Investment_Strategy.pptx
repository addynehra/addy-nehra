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1B2B"/>
              </a:solidFill>
              <a:effectLst/>
            </c:spPr>
          </c:dPt>
          <c:dPt>
            <c:idx val="1"/>
            <c:bubble3D val="0"/>
            <c:spPr>
              <a:solidFill>
                <a:srgbClr val="C6A15B"/>
              </a:solidFill>
              <a:effectLst/>
            </c:spPr>
          </c:dPt>
          <c:dPt>
            <c:idx val="2"/>
            <c:bubble3D val="0"/>
            <c:spPr>
              <a:solidFill>
                <a:srgbClr val="8C2F39"/>
              </a:solidFill>
              <a:effectLst/>
            </c:spPr>
          </c:dPt>
          <c:dPt>
            <c:idx val="3"/>
            <c:bubble3D val="0"/>
            <c:spPr>
              <a:solidFill>
                <a:srgbClr val="5C7A73"/>
              </a:solidFill>
              <a:effectLst/>
            </c:spPr>
          </c:dPt>
          <c:dPt>
            <c:idx val="4"/>
            <c:bubble3D val="0"/>
            <c:spPr>
              <a:solidFill>
                <a:srgbClr val="8C93A0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Capital Growth</c:v>
                </c:pt>
                <c:pt idx="1">
                  <c:v>Stable Yield &amp; Growth</c:v>
                </c:pt>
                <c:pt idx="2">
                  <c:v>Opportunistic / Private Markets</c:v>
                </c:pt>
                <c:pt idx="3">
                  <c:v>Philanthropy</c:v>
                </c:pt>
                <c:pt idx="4">
                  <c:v>Liquidity Reserve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35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B2B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B1B2B"/>
                </a:solidFill>
                <a:latin typeface="Calibri"/>
              </a:rPr>
              <a:t>Return Composition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Income</c:v>
                </c:pt>
              </c:strCache>
            </c:strRef>
          </c:tx>
          <c:spPr>
            <a:solidFill>
              <a:srgbClr val="C6A15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Return Build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Growth</c:v>
                </c:pt>
              </c:strCache>
            </c:strRef>
          </c:tx>
          <c:spPr>
            <a:solidFill>
              <a:srgbClr val="0B1B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Return Build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B2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0B1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 Equities</c:v>
                </c:pt>
              </c:strCache>
            </c:strRef>
          </c:tx>
          <c:spPr>
            <a:solidFill>
              <a:srgbClr val="0B1B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Mix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Fixed Income &amp; Credit</c:v>
                </c:pt>
              </c:strCache>
            </c:strRef>
          </c:tx>
          <c:spPr>
            <a:solidFill>
              <a:srgbClr val="C6A15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Mix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Assets</c:v>
                </c:pt>
              </c:strCache>
            </c:strRef>
          </c:tx>
          <c:spPr>
            <a:solidFill>
              <a:srgbClr val="8C2F3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Mix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Alternatives</c:v>
                </c:pt>
              </c:strCache>
            </c:strRef>
          </c:tx>
          <c:spPr>
            <a:solidFill>
              <a:srgbClr val="5C7A7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Mix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Cash</c:v>
                </c:pt>
              </c:strCache>
            </c:strRef>
          </c:tx>
          <c:spPr>
            <a:solidFill>
              <a:srgbClr val="8C93A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Mix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0B1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Deployment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1B2B"/>
              </a:solidFill>
              <a:effectLst/>
            </c:spPr>
          </c:dPt>
          <c:dPt>
            <c:idx val="1"/>
            <c:bubble3D val="0"/>
            <c:spPr>
              <a:solidFill>
                <a:srgbClr val="C6A15B"/>
              </a:solidFill>
              <a:effectLst/>
            </c:spPr>
          </c:dPt>
          <c:dPt>
            <c:idx val="2"/>
            <c:bubble3D val="0"/>
            <c:spPr>
              <a:solidFill>
                <a:srgbClr val="8C93A0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AI-Medicine Research Grants</c:v>
                </c:pt>
                <c:pt idx="1">
                  <c:v>Venture Philanthropy / Co-Funding</c:v>
                </c:pt>
                <c:pt idx="2">
                  <c:v>Operating &amp; Governance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70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920240"/>
            <a:ext cx="5669280" cy="5669280"/>
          </a:xfrm>
          <a:prstGeom prst="ellipse">
            <a:avLst/>
          </a:prstGeom>
          <a:ln w="12700">
            <a:solidFill>
              <a:srgbClr val="C6A15B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194560" y="4206240"/>
            <a:ext cx="4023360" cy="4023360"/>
          </a:xfrm>
          <a:prstGeom prst="ellipse">
            <a:avLst/>
          </a:prstGeom>
          <a:ln w="12700">
            <a:solidFill>
              <a:srgbClr val="C6A15B">
                <a:alpha val="3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051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SYDNEY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10241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Office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Strategy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05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Five-Pool Framework for Multi-Generational Capital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72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August 2026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61722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Private &amp; Confidential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132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Family, Five Pools of Capital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pool is managed against its own purpose, time horizon and risk budget — together they form a single, coordinated family balance sheet.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2121408" cy="4160520"/>
          </a:xfrm>
          <a:prstGeom prst="roundRect">
            <a:avLst>
              <a:gd name="adj" fmla="val 3879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2258568"/>
            <a:ext cx="530352" cy="530352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178" y="2327514"/>
            <a:ext cx="392460" cy="392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3232" y="2926080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322783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Growth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4142232"/>
            <a:ext cx="1609344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Multi-generational compounding of a concentrated single-stock position.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752344" y="1965960"/>
            <a:ext cx="2121408" cy="4160520"/>
          </a:xfrm>
          <a:prstGeom prst="roundRect">
            <a:avLst>
              <a:gd name="adj" fmla="val 3879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08376" y="2258568"/>
            <a:ext cx="530352" cy="530352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322" y="2327514"/>
            <a:ext cx="392460" cy="3924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008376" y="2926080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008376" y="322783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Yield</a:t>
            </a:r>
            <a:endParaRPr lang="en-US" sz="14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Growth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3008376" y="4142232"/>
            <a:ext cx="1609344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Diversified core portfolio targeting 7.5% p.a. total return.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47488" y="1965960"/>
            <a:ext cx="2121408" cy="4160520"/>
          </a:xfrm>
          <a:prstGeom prst="roundRect">
            <a:avLst>
              <a:gd name="adj" fmla="val 3879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303520" y="2258568"/>
            <a:ext cx="530352" cy="530352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2466" y="2327514"/>
            <a:ext cx="392460" cy="3924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03520" y="2926080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303520" y="322783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Yacht Facility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5303520" y="4142232"/>
            <a:ext cx="1609344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Lending-led structure funding purchase and running costs.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342632" y="1965960"/>
            <a:ext cx="2121408" cy="4160520"/>
          </a:xfrm>
          <a:prstGeom prst="roundRect">
            <a:avLst>
              <a:gd name="adj" fmla="val 3879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598664" y="2258568"/>
            <a:ext cx="530352" cy="530352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10" y="2327514"/>
            <a:ext cx="392460" cy="39246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598664" y="2926080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7598664" y="322783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Opportunistic</a:t>
            </a:r>
            <a:endParaRPr lang="en-US" sz="14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Private Markets</a:t>
            </a:r>
            <a:endParaRPr lang="en-US" sz="1450" dirty="0"/>
          </a:p>
        </p:txBody>
      </p:sp>
      <p:sp>
        <p:nvSpPr>
          <p:cNvPr id="28" name="Text 22"/>
          <p:cNvSpPr txBox="1"/>
          <p:nvPr/>
        </p:nvSpPr>
        <p:spPr>
          <a:xfrm>
            <a:off x="7598664" y="4142232"/>
            <a:ext cx="1609344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deal flow and private-market co-investment.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9637776" y="1965960"/>
            <a:ext cx="2121408" cy="4160520"/>
          </a:xfrm>
          <a:prstGeom prst="roundRect">
            <a:avLst>
              <a:gd name="adj" fmla="val 3879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893808" y="2258568"/>
            <a:ext cx="530352" cy="530352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2754" y="2327514"/>
            <a:ext cx="392460" cy="39246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893808" y="2926080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9893808" y="322783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Philanthropy</a:t>
            </a:r>
            <a:endParaRPr lang="en-US" sz="1450" dirty="0"/>
          </a:p>
        </p:txBody>
      </p:sp>
      <p:sp>
        <p:nvSpPr>
          <p:cNvPr id="34" name="Text 27"/>
          <p:cNvSpPr txBox="1"/>
          <p:nvPr/>
        </p:nvSpPr>
        <p:spPr>
          <a:xfrm>
            <a:off x="9893808" y="4142232"/>
            <a:ext cx="1609344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funding for AI-driven medicine research.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Strictly Private &amp; Confidential</a:t>
            </a:r>
            <a:endParaRPr lang="en-US" sz="850" dirty="0"/>
          </a:p>
        </p:txBody>
      </p:sp>
      <p:sp>
        <p:nvSpPr>
          <p:cNvPr id="36" name="Text 29"/>
          <p:cNvSpPr txBox="1"/>
          <p:nvPr/>
        </p:nvSpPr>
        <p:spPr>
          <a:xfrm>
            <a:off x="11274552" y="65288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13232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Capital Allocation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9144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target weights, to be finalised in the Investment Policy Statement.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783080"/>
          <a:ext cx="4937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06440" y="1883664"/>
            <a:ext cx="164592" cy="164592"/>
          </a:xfrm>
          <a:prstGeom prst="rect">
            <a:avLst/>
          </a:prstGeom>
          <a:solidFill>
            <a:srgbClr val="0B1B2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080760" y="1792224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Growth  —  30%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080760" y="2066544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Multi-generational compounding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06440" y="2542032"/>
            <a:ext cx="164592" cy="16459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80760" y="245059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Yield &amp; Growth  —  35%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80760" y="272491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income and growth engine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06440" y="3200400"/>
            <a:ext cx="164592" cy="164592"/>
          </a:xfrm>
          <a:prstGeom prst="rect">
            <a:avLst/>
          </a:prstGeom>
          <a:solidFill>
            <a:srgbClr val="8C2F3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080760" y="3108960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Opportunistic / Private Markets  —  20%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080760" y="33832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Differentiated alpha, deal flow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806440" y="3858768"/>
            <a:ext cx="164592" cy="164592"/>
          </a:xfrm>
          <a:prstGeom prst="rect">
            <a:avLst/>
          </a:prstGeom>
          <a:solidFill>
            <a:srgbClr val="5C7A7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080760" y="3767328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Philanthropy  —  10%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080760" y="404164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family legacy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806440" y="4517136"/>
            <a:ext cx="164592" cy="164592"/>
          </a:xfrm>
          <a:prstGeom prst="rect">
            <a:avLst/>
          </a:prstGeom>
          <a:solidFill>
            <a:srgbClr val="8C93A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080760" y="4425696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Reserve  —  5%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80760" y="4700016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 and lending buffer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806440" y="5230368"/>
            <a:ext cx="5852160" cy="960120"/>
          </a:xfrm>
          <a:prstGeom prst="roundRect">
            <a:avLst>
              <a:gd name="adj" fmla="val 6667"/>
            </a:avLst>
          </a:prstGeom>
          <a:solidFill>
            <a:srgbClr val="F6F3E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035040" y="5321808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yacht facility is funded through securities-backed lending collateralised against Pools 1–2 and the liquidity reserve — it is a liability structure, not a separate capital allocation.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Strictly Private &amp; Confidential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74552" y="65288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4754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01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207008" y="713232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Growth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07008" y="1225296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Multi-Generational Wealth · Concentrated Equity Exposure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783080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084832"/>
            <a:ext cx="6126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and compound the family's core concentrated equity position across generations, without forced diversification eroding long-run value.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88920"/>
            <a:ext cx="6126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core position for the long term; avoid unnecessary taxable realisation events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concentration risk with collars, protective puts or exchange funds rather than outright sales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Ring-fence the holding inside a multi-generational trust for succession and estate efficiency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incremental diversification from dividends and option premium, not core capital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concentration-risk and hedge review with the Investment Committee at least annually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903720" y="178308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068312" y="1892808"/>
            <a:ext cx="2002536" cy="85039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20+ yrs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068312" y="2779776"/>
            <a:ext cx="2002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holding horizon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372600" y="178308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537192" y="1892808"/>
            <a:ext cx="2002536" cy="85039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Trust-Held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9537192" y="2779776"/>
            <a:ext cx="2002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structuring vehicle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903720" y="3703320"/>
            <a:ext cx="48006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FD3"/>
            </a:solidFill>
            <a:prstDash val="solid"/>
          </a:ln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132320" y="3886200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Structuring for succession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406640" y="4663440"/>
            <a:ext cx="777240" cy="777240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6640" y="46634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5513832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183880" y="5052060"/>
            <a:ext cx="731520" cy="0"/>
          </a:xfrm>
          <a:prstGeom prst="line">
            <a:avLst/>
          </a:prstGeom>
          <a:noFill/>
          <a:ln w="22225">
            <a:solidFill>
              <a:srgbClr val="C6A15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915400" y="4663440"/>
            <a:ext cx="777240" cy="777240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915400" y="46634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549640" y="5513832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692640" y="5052060"/>
            <a:ext cx="731520" cy="0"/>
          </a:xfrm>
          <a:prstGeom prst="line">
            <a:avLst/>
          </a:prstGeom>
          <a:noFill/>
          <a:ln w="22225">
            <a:solidFill>
              <a:srgbClr val="C6A15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10424160" y="4663440"/>
            <a:ext cx="777240" cy="777240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424160" y="46634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0" y="5513832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Generations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Strictly Private &amp; Confidential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11274552" y="65288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4754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02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207008" y="713232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Yield &amp; Growth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07008" y="1225296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Portfolio · Target 7.5% p.a. Total Return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7830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084832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diversified, liquid core portfolio blending income and growth to deliver a consistent 7.5% p.a. total return through market cycles.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651760"/>
            <a:ext cx="5943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multi-asset mandate spanning equities, credit, real assets and diversifying strategies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Disciplined rebalancing bands to harvest volatility and control drift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sleeve engineered to service the Pool 3 lending facility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performance review against the 7.5% p.a. hurdle and peer benchmarks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03720" y="178308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068312" y="1892808"/>
            <a:ext cx="1911096" cy="6675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068312" y="2596896"/>
            <a:ext cx="19110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return p.a.</a:t>
            </a:r>
            <a:endParaRPr lang="en-US" sz="10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9235440" y="1783080"/>
          <a:ext cx="24688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457200" y="5074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Asset Mix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5367528"/>
          <a:ext cx="1124712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Strictly Private &amp; Confidential</a:t>
            </a:r>
            <a:endParaRPr lang="en-US" sz="850" dirty="0"/>
          </a:p>
        </p:txBody>
      </p:sp>
      <p:sp>
        <p:nvSpPr>
          <p:cNvPr id="17" name="Text 12"/>
          <p:cNvSpPr txBox="1"/>
          <p:nvPr/>
        </p:nvSpPr>
        <p:spPr>
          <a:xfrm>
            <a:off x="11274552" y="65288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4754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03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207008" y="713232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Yacht Acquisition &amp; Running Costs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07008" y="1225296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Lending-Led Solution · Solving for the Facility, Not a Sale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7830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084832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the yacht purchase and its ongoing running costs through a lending facility, preserving Pools 1 and 2 to keep compounding uninterrupted.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88920"/>
            <a:ext cx="6035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Securities-backed (Lombard) lending facility collateralised against Pools 1–2 and the liquidity reserve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for a loan-to-value that keeps the facility comfortably serviceable from portfolio yield alone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drawn as a term facility; running costs drawn as a revolving line, not funded from capital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Interest-rate hedge reviewed alongside covenant headroom at each Investment Committee meeting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forced sale of core holdings to fund acquisition, crew, maintenance, insurance or berthing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903720" y="178308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068312" y="1892808"/>
            <a:ext cx="2002536" cy="6675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068312" y="2596896"/>
            <a:ext cx="2002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loan-to-value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372600" y="178308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537192" y="1892808"/>
            <a:ext cx="2002536" cy="6675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~10%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9537192" y="2596896"/>
            <a:ext cx="2002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cost, % of vessel value p.a.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903720" y="3246120"/>
            <a:ext cx="48006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DFD3"/>
            </a:solidFill>
            <a:prstDash val="solid"/>
          </a:ln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132320" y="3429000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facility is structured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132320" y="3931920"/>
            <a:ext cx="1325880" cy="1005840"/>
          </a:xfrm>
          <a:prstGeom prst="roundRect">
            <a:avLst>
              <a:gd name="adj" fmla="val 6364"/>
            </a:avLst>
          </a:prstGeom>
          <a:solidFill>
            <a:srgbClr val="0B1B2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187184" y="4023360"/>
            <a:ext cx="1216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187184" y="4315968"/>
            <a:ext cx="1216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1–2 +</a:t>
            </a:r>
            <a:endParaRPr lang="en-US" sz="8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reserve</a:t>
            </a:r>
            <a:endParaRPr lang="en-US" sz="880" dirty="0"/>
          </a:p>
        </p:txBody>
      </p:sp>
      <p:sp>
        <p:nvSpPr>
          <p:cNvPr id="21" name="Shape 18"/>
          <p:cNvSpPr/>
          <p:nvPr/>
        </p:nvSpPr>
        <p:spPr>
          <a:xfrm>
            <a:off x="8458200" y="4434840"/>
            <a:ext cx="182880" cy="0"/>
          </a:xfrm>
          <a:prstGeom prst="line">
            <a:avLst/>
          </a:prstGeom>
          <a:noFill/>
          <a:ln w="22225">
            <a:solidFill>
              <a:srgbClr val="C6A15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641080" y="3931920"/>
            <a:ext cx="1325880" cy="1005840"/>
          </a:xfrm>
          <a:prstGeom prst="roundRect">
            <a:avLst>
              <a:gd name="adj" fmla="val 6364"/>
            </a:avLst>
          </a:prstGeom>
          <a:solidFill>
            <a:srgbClr val="C6A15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695944" y="4023360"/>
            <a:ext cx="1216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Facility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4315968"/>
            <a:ext cx="1216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LTV,</a:t>
            </a:r>
            <a:endParaRPr lang="en-US" sz="8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yield-serviced</a:t>
            </a:r>
            <a:endParaRPr lang="en-US" sz="880" dirty="0"/>
          </a:p>
        </p:txBody>
      </p:sp>
      <p:sp>
        <p:nvSpPr>
          <p:cNvPr id="25" name="Shape 22"/>
          <p:cNvSpPr/>
          <p:nvPr/>
        </p:nvSpPr>
        <p:spPr>
          <a:xfrm>
            <a:off x="9966960" y="4434840"/>
            <a:ext cx="182880" cy="0"/>
          </a:xfrm>
          <a:prstGeom prst="line">
            <a:avLst/>
          </a:prstGeom>
          <a:noFill/>
          <a:ln w="22225">
            <a:solidFill>
              <a:srgbClr val="C6A15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10149840" y="3931920"/>
            <a:ext cx="1325880" cy="1005840"/>
          </a:xfrm>
          <a:prstGeom prst="roundRect">
            <a:avLst>
              <a:gd name="adj" fmla="val 6364"/>
            </a:avLst>
          </a:prstGeom>
          <a:solidFill>
            <a:srgbClr val="0B1B2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204704" y="4023360"/>
            <a:ext cx="1216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Yacht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10204704" y="4315968"/>
            <a:ext cx="1216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+</a:t>
            </a:r>
            <a:endParaRPr lang="en-US" sz="8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</a:t>
            </a:r>
            <a:endParaRPr lang="en-US" sz="880" dirty="0"/>
          </a:p>
        </p:txBody>
      </p:sp>
      <p:sp>
        <p:nvSpPr>
          <p:cNvPr id="29" name="Text 26"/>
          <p:cNvSpPr txBox="1"/>
          <p:nvPr/>
        </p:nvSpPr>
        <p:spPr>
          <a:xfrm>
            <a:off x="7132320" y="5193792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and running costs serviced from Pool 2 income — core capital is never drawn down.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Strictly Private &amp; Confidential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11274552" y="65288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4754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04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207008" y="713232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Opportunistic &amp; Private Markets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07008" y="1225296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Deal Flow · Private Equity, Venture &amp; Direct Co-Investment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7830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084832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differentiated, less-correlated returns through disciplined, network-sourced private market deployment.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88920"/>
            <a:ext cx="6035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deal flow sourced through the family's network, co-investors and sponsor relationships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 IRR of 15–20%+, underwritten with the same rigour as a control investment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Illiquidity budget hard-capped at 20% of NAV, paced across vintages to smooth capital calls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— every deal is referred back to the Investment Committee before commitment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903720" y="178308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86600" y="1965960"/>
            <a:ext cx="420624" cy="420624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281" y="2020641"/>
            <a:ext cx="311262" cy="31126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866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Equity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086600" y="2752344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&amp; buyout co-investment alongside trusted sponsors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9372600" y="178308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555480" y="1965960"/>
            <a:ext cx="420624" cy="420624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0161" y="2020641"/>
            <a:ext cx="311262" cy="31126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55548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Venture Co-Investment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2752344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stakes alongside lead venture investors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903720" y="352044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86600" y="3703320"/>
            <a:ext cx="420624" cy="420624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281" y="3758001"/>
            <a:ext cx="311262" cy="31126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086600" y="42062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/ Club Deals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7086600" y="4489704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transactions sourced from the family network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9372600" y="352044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0B1B2B"/>
          </a:solidFill>
          <a:ln/>
          <a:effectLst>
            <a:outerShdw sx="100000" sy="100000" kx="0" ky="0" algn="bl" rotWithShape="0" blurRad="101600" dist="38100" dir="5400000">
              <a:srgbClr val="071320">
                <a:alpha val="2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555480" y="3703320"/>
            <a:ext cx="420624" cy="420624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161" y="3758001"/>
            <a:ext cx="311262" cy="31126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555480" y="42062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Opportunistic Real Assets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9555480" y="4489704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Special-situation and value-add real asset positions</a:t>
            </a:r>
            <a:endParaRPr lang="en-US" sz="950" dirty="0"/>
          </a:p>
        </p:txBody>
      </p:sp>
      <p:sp>
        <p:nvSpPr>
          <p:cNvPr id="30" name="Text 23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Strictly Private &amp; Confidential</a:t>
            </a:r>
            <a:endParaRPr lang="en-US" sz="850" dirty="0"/>
          </a:p>
        </p:txBody>
      </p:sp>
      <p:sp>
        <p:nvSpPr>
          <p:cNvPr id="31" name="Text 24"/>
          <p:cNvSpPr txBox="1"/>
          <p:nvPr/>
        </p:nvSpPr>
        <p:spPr>
          <a:xfrm>
            <a:off x="11274552" y="65288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4754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05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207008" y="713232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Philanthropy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07008" y="1225296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the Next Generation of AI-Driven Medicine Research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7830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084832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philanthropic capital to accelerate AI-driven medical research, building a multi-generational family mission alongside the portfolio.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88920"/>
            <a:ext cx="6035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through a Private Ancillary Fund for tax-effective, perpetual giving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grants to AI-medicine labs — drug discovery, diagnostics and precision medicine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venture philanthropy co-funding alongside specialist medical-research investors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tracked against research milestones, not just dollars deployed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Next-generation family members sit on the grant-making committee — purpose as succession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178308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Deployment</a:t>
            </a:r>
            <a:endParaRPr lang="en-US" sz="13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903720" y="2103120"/>
          <a:ext cx="28346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9921240" y="2313432"/>
            <a:ext cx="146304" cy="146304"/>
          </a:xfrm>
          <a:prstGeom prst="rect">
            <a:avLst/>
          </a:prstGeom>
          <a:solidFill>
            <a:srgbClr val="0B1B2B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10149840" y="2231136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AI-Medicine Research Grants — 70%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9921240" y="2880360"/>
            <a:ext cx="146304" cy="146304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10149840" y="2798064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Philanthropy — 20%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921240" y="3447288"/>
            <a:ext cx="146304" cy="146304"/>
          </a:xfrm>
          <a:prstGeom prst="rect">
            <a:avLst/>
          </a:prstGeom>
          <a:solidFill>
            <a:srgbClr val="8C93A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10149840" y="3364992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&amp; Governance — 10%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903720" y="5257800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3DFD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086600" y="5349240"/>
            <a:ext cx="4434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area: AI-enabled drug discovery, diagnostics and precision-medicine research institutions.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Strictly Private &amp; Confidential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74552" y="65288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4754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207008" y="7132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Risk Oversight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07008" y="12435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Investment Committee meetings; Investment Policy Statement reviewed and re-ratified annually.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11247120" cy="3291840"/>
        </p:xfrm>
        <a:graphic>
          <a:graphicData uri="http://schemas.openxmlformats.org/drawingml/2006/table">
            <a:tbl>
              <a:tblPr/>
              <a:tblGrid>
                <a:gridCol w="3566160"/>
                <a:gridCol w="3657600"/>
                <a:gridCol w="40233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Capital Growth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Single-stock concentration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Hedging protocol + annual IC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Stable Yield &amp; Growth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and credit drawdown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Diversification + rebalancing bands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Yacht Facility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Loan-to-value and rate risk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LTV covenant + rate-hedge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Opportunistic / Private Markets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Illiquidity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NAV cap + vintage pacing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Philanthropy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 drift / impact risk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due diligence + impact reporting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5440680"/>
            <a:ext cx="11247120" cy="822960"/>
          </a:xfrm>
          <a:prstGeom prst="roundRect">
            <a:avLst>
              <a:gd name="adj" fmla="val 7778"/>
            </a:avLst>
          </a:prstGeom>
          <a:solidFill>
            <a:srgbClr val="F6F3EC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85800" y="55321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Committee: family principals, an independent director and the family office CIO. The Committee approves every private-market commitment, hedge structure and grant over threshold.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Strictly Private &amp; Confidential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11274552" y="65288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4754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207008" y="7132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to Full Deployment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863090" y="2903220"/>
            <a:ext cx="8435340" cy="0"/>
          </a:xfrm>
          <a:prstGeom prst="line">
            <a:avLst/>
          </a:prstGeom>
          <a:noFill/>
          <a:ln w="19050">
            <a:solidFill>
              <a:srgbClr val="C6A15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11630" y="2651760"/>
            <a:ext cx="502920" cy="502920"/>
          </a:xfrm>
          <a:prstGeom prst="ellipse">
            <a:avLst/>
          </a:prstGeom>
          <a:solidFill>
            <a:srgbClr val="0B1B2B"/>
          </a:solidFill>
          <a:ln w="25400">
            <a:solidFill>
              <a:srgbClr val="C6A1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1163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355848"/>
            <a:ext cx="2537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648456"/>
            <a:ext cx="25374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0–3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59352"/>
            <a:ext cx="25374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 Investment Policy Statement; establish trust and governance structure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423410" y="2651760"/>
            <a:ext cx="502920" cy="502920"/>
          </a:xfrm>
          <a:prstGeom prst="ellipse">
            <a:avLst/>
          </a:prstGeom>
          <a:solidFill>
            <a:srgbClr val="0B1B2B"/>
          </a:solidFill>
          <a:ln w="25400">
            <a:solidFill>
              <a:srgbClr val="C6A15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2341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406140" y="3355848"/>
            <a:ext cx="2537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06140" y="3648456"/>
            <a:ext cx="25374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3–6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406140" y="3959352"/>
            <a:ext cx="25374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securities-backed lending facility; complete yacht acquisition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235190" y="2651760"/>
            <a:ext cx="502920" cy="502920"/>
          </a:xfrm>
          <a:prstGeom prst="ellipse">
            <a:avLst/>
          </a:prstGeom>
          <a:solidFill>
            <a:srgbClr val="0B1B2B"/>
          </a:solidFill>
          <a:ln w="25400">
            <a:solidFill>
              <a:srgbClr val="C6A15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3519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3355848"/>
            <a:ext cx="2537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3648456"/>
            <a:ext cx="25374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6–12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3959352"/>
            <a:ext cx="25374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Pool 4 commitments; establish Private Ancillary Fund and first AI-medicine grants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0046970" y="2651760"/>
            <a:ext cx="502920" cy="502920"/>
          </a:xfrm>
          <a:prstGeom prst="ellipse">
            <a:avLst/>
          </a:prstGeom>
          <a:solidFill>
            <a:srgbClr val="0B1B2B"/>
          </a:solidFill>
          <a:ln w="25400">
            <a:solidFill>
              <a:srgbClr val="C6A15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04697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9029700" y="3355848"/>
            <a:ext cx="25374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9029700" y="3648456"/>
            <a:ext cx="25374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9029700" y="3959352"/>
            <a:ext cx="25374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monitoring and rebalancing; annual Investment Policy Statement review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Wealth Advisory · Strictly Private &amp; Confidential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74552" y="65288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011680"/>
            <a:ext cx="5120640" cy="5120640"/>
          </a:xfrm>
          <a:prstGeom prst="ellipse">
            <a:avLst/>
          </a:prstGeom>
          <a:ln w="12700">
            <a:solidFill>
              <a:srgbClr val="C6A15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640080" cy="640080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170" y="906170"/>
            <a:ext cx="473659" cy="4736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691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514600"/>
            <a:ext cx="8686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60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Ratify the Investment Policy Statement with the Investment Committee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60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 legal counsel on trust, lending-facility and Private Ancillary Fund documentation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600" dirty="0">
                <a:solidFill>
                  <a:srgbClr val="F6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phased capital deployment across the five pools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126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Private Wealth Advisory · Sydney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6126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8C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Private &amp; Confidential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Office Investment Strategy</dc:title>
  <dc:subject>PptxGenJS Presentation</dc:subject>
  <dc:creator>Private Wealth Advisory</dc:creator>
  <cp:lastModifiedBy>Private Wealth Advisory</cp:lastModifiedBy>
  <cp:revision>1</cp:revision>
  <dcterms:created xsi:type="dcterms:W3CDTF">2026-08-26T13:10:03Z</dcterms:created>
  <dcterms:modified xsi:type="dcterms:W3CDTF">2026-08-26T13:10:03Z</dcterms:modified>
</cp:coreProperties>
</file>